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SA_DARK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A8A"/>
                </a:solidFill>
                <a:latin typeface="Roboto Condensed"/>
                <a:ea typeface="Roboto Condensed"/>
                <a:cs typeface="Roboto Condense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A8A"/>
                </a:solidFill>
                <a:latin typeface="Roboto Condensed"/>
                <a:ea typeface="Roboto Condensed"/>
                <a:cs typeface="Roboto Condense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0" y="0"/>
            <a:ext cx="274320" cy="320040"/>
          </a:xfrm>
          <a:prstGeom prst="line">
            <a:avLst/>
          </a:prstGeom>
          <a:noFill/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320040"/>
            <a:ext cx="822960" cy="0"/>
          </a:xfrm>
          <a:prstGeom prst="line">
            <a:avLst/>
          </a:prstGeom>
          <a:noFill/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32004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73152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457200"/>
            <a:ext cx="914400" cy="0"/>
          </a:xfrm>
          <a:prstGeom prst="line">
            <a:avLst/>
          </a:prstGeom>
          <a:noFill/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457200"/>
            <a:ext cx="274320" cy="411480"/>
          </a:xfrm>
          <a:prstGeom prst="line">
            <a:avLst/>
          </a:prstGeom>
          <a:noFill/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8229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0"/>
            <a:ext cx="320040" cy="274320"/>
          </a:xfrm>
          <a:prstGeom prst="line">
            <a:avLst/>
          </a:prstGeom>
          <a:noFill/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274320"/>
            <a:ext cx="640080" cy="0"/>
          </a:xfrm>
          <a:prstGeom prst="line">
            <a:avLst/>
          </a:prstGeom>
          <a:noFill/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274320"/>
            <a:ext cx="228600" cy="365760"/>
          </a:xfrm>
          <a:prstGeom prst="line">
            <a:avLst/>
          </a:prstGeom>
          <a:noFill/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5943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5120640"/>
            <a:ext cx="-365760" cy="365760"/>
          </a:xfrm>
          <a:prstGeom prst="line">
            <a:avLst/>
          </a:prstGeom>
          <a:noFill/>
          <a:ln w="1397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0" y="5486400"/>
            <a:ext cx="0" cy="685800"/>
          </a:xfrm>
          <a:prstGeom prst="line">
            <a:avLst/>
          </a:prstGeom>
          <a:noFill/>
          <a:ln w="1397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6172200"/>
            <a:ext cx="-457200" cy="411480"/>
          </a:xfrm>
          <a:prstGeom prst="line">
            <a:avLst/>
          </a:prstGeom>
          <a:noFill/>
          <a:ln w="1397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65379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5623560"/>
            <a:ext cx="-228600" cy="228600"/>
          </a:xfrm>
          <a:prstGeom prst="line">
            <a:avLst/>
          </a:prstGeom>
          <a:noFill/>
          <a:ln w="1397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15400" y="5852160"/>
            <a:ext cx="0" cy="685800"/>
          </a:xfrm>
          <a:prstGeom prst="line">
            <a:avLst/>
          </a:prstGeom>
          <a:noFill/>
          <a:ln w="1397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649224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0" y="4983480"/>
            <a:ext cx="-274320" cy="274320"/>
          </a:xfrm>
          <a:prstGeom prst="line">
            <a:avLst/>
          </a:prstGeom>
          <a:noFill/>
          <a:ln w="1397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5257800"/>
            <a:ext cx="0" cy="548640"/>
          </a:xfrm>
          <a:prstGeom prst="line">
            <a:avLst/>
          </a:prstGeom>
          <a:noFill/>
          <a:ln w="1397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75320" y="576072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24" name="Image 0" descr="/mnt/data/ppt_assets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17" y="411480"/>
            <a:ext cx="1596527" cy="713232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502920" y="1325880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2F80ED">
              <a:alpha val="92000"/>
            </a:srgbClr>
          </a:solidFill>
          <a:ln w="1016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9496" y="1353312"/>
            <a:ext cx="9784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CAPSTONE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02920" y="1828800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PLATAFORMA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INTEGRAL CSA</a:t>
            </a:r>
            <a:endParaRPr lang="en-US" sz="3400" dirty="0"/>
          </a:p>
        </p:txBody>
      </p:sp>
      <p:sp>
        <p:nvSpPr>
          <p:cNvPr id="28" name="Text 25"/>
          <p:cNvSpPr/>
          <p:nvPr/>
        </p:nvSpPr>
        <p:spPr>
          <a:xfrm>
            <a:off x="530352" y="342900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FC8D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Definición de Proyecto APT · Producto Mínimo Viable (MVP)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806440" y="1417320"/>
            <a:ext cx="2743200" cy="4023360"/>
          </a:xfrm>
          <a:prstGeom prst="roundRect">
            <a:avLst>
              <a:gd name="adj" fmla="val 4000"/>
            </a:avLst>
          </a:prstGeom>
          <a:solidFill>
            <a:srgbClr val="0C131D"/>
          </a:solidFill>
          <a:ln w="15240">
            <a:solidFill>
              <a:srgbClr val="223042"/>
            </a:solidFill>
            <a:prstDash val="solid"/>
          </a:ln>
          <a:effectLst>
            <a:outerShdw sx="100000" sy="100000" kx="0" ky="0" algn="bl" rotWithShape="0" blurRad="25400" dist="10160" dir="2700000">
              <a:srgbClr val="000000">
                <a:alpha val="2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199632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CORE CSA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126480" y="22402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Identidad única por RUT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126480" y="2880360"/>
            <a:ext cx="566928" cy="566928"/>
          </a:xfrm>
          <a:prstGeom prst="ellipse">
            <a:avLst/>
          </a:prstGeom>
          <a:solidFill>
            <a:srgbClr val="0B1018"/>
          </a:solidFill>
          <a:ln w="15240">
            <a:solidFill>
              <a:srgbClr val="EB5757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1928" y="3035808"/>
            <a:ext cx="256032" cy="25603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6035040" y="352958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D5DCE5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Clínico</a:t>
            </a:r>
            <a:endParaRPr lang="en-US" sz="920" dirty="0"/>
          </a:p>
        </p:txBody>
      </p:sp>
      <p:sp>
        <p:nvSpPr>
          <p:cNvPr id="35" name="Shape 31"/>
          <p:cNvSpPr/>
          <p:nvPr/>
        </p:nvSpPr>
        <p:spPr>
          <a:xfrm>
            <a:off x="6912864" y="2880360"/>
            <a:ext cx="566928" cy="566928"/>
          </a:xfrm>
          <a:prstGeom prst="ellipse">
            <a:avLst/>
          </a:prstGeom>
          <a:solidFill>
            <a:srgbClr val="0B1018"/>
          </a:solidFill>
          <a:ln w="15240">
            <a:solidFill>
              <a:srgbClr val="2F80ED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68312" y="3035808"/>
            <a:ext cx="256032" cy="256032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821424" y="352958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D5DCE5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Óptica</a:t>
            </a:r>
            <a:endParaRPr lang="en-US" sz="920" dirty="0"/>
          </a:p>
        </p:txBody>
      </p:sp>
      <p:sp>
        <p:nvSpPr>
          <p:cNvPr id="38" name="Shape 33"/>
          <p:cNvSpPr/>
          <p:nvPr/>
        </p:nvSpPr>
        <p:spPr>
          <a:xfrm>
            <a:off x="7699248" y="2880360"/>
            <a:ext cx="566928" cy="566928"/>
          </a:xfrm>
          <a:prstGeom prst="ellipse">
            <a:avLst/>
          </a:prstGeom>
          <a:solidFill>
            <a:srgbClr val="0B1018"/>
          </a:solidFill>
          <a:ln w="15240">
            <a:solidFill>
              <a:srgbClr val="7B61FF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54696" y="3035808"/>
            <a:ext cx="256032" cy="256032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607808" y="352958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D5DCE5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CRM</a:t>
            </a:r>
            <a:endParaRPr lang="en-US" sz="920" dirty="0"/>
          </a:p>
        </p:txBody>
      </p:sp>
      <p:sp>
        <p:nvSpPr>
          <p:cNvPr id="41" name="Shape 35"/>
          <p:cNvSpPr/>
          <p:nvPr/>
        </p:nvSpPr>
        <p:spPr>
          <a:xfrm>
            <a:off x="6172200" y="4069080"/>
            <a:ext cx="2057400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172200" y="4315968"/>
            <a:ext cx="20574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MVP primero.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Automatización después.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Inteligencia al final.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530352" y="617220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0C9D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Equipo: Leonel González · Esteban Toledo · Jeremy Navarro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6400800" y="61722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CSA Salud Integral SpA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A8A"/>
                </a:solidFill>
                <a:latin typeface="Roboto Condensed"/>
                <a:ea typeface="Roboto Condensed"/>
                <a:cs typeface="Roboto Condense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0" y="0"/>
            <a:ext cx="274320" cy="32004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320040"/>
            <a:ext cx="82296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32004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73152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457200"/>
            <a:ext cx="91440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457200"/>
            <a:ext cx="274320" cy="41148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8229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0"/>
            <a:ext cx="320040" cy="27432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274320"/>
            <a:ext cx="64008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274320"/>
            <a:ext cx="228600" cy="36576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5943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4739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38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CAPSTONE · CSA PLATFORM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4754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PROBLEMA Y CONTEXTO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30352" y="987552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Procesos clínicos, ópticos y comerciales hoy no están completamente integrados.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1344168"/>
            <a:ext cx="91440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1645920"/>
            <a:ext cx="3246120" cy="3520440"/>
          </a:xfrm>
          <a:prstGeom prst="roundRect">
            <a:avLst>
              <a:gd name="adj" fmla="val 2254"/>
            </a:avLst>
          </a:prstGeom>
          <a:solidFill>
            <a:srgbClr val="0A111A"/>
          </a:solidFill>
          <a:ln w="12700">
            <a:solidFill>
              <a:srgbClr val="2430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187452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575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PROBLEMA PRINCIPAL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6384" y="2331720"/>
            <a:ext cx="2670048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 información y los procesos se encuentran fragmentados entre áreas, dificultando reutilizar datos, mantener una identidad única del paciente y obtener trazabilidad transversal.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6384" y="388620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Principio definido por CSA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6384" y="4242816"/>
            <a:ext cx="2670048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20" b="1" i="1" dirty="0">
                <a:solidFill>
                  <a:srgbClr val="2EC4B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“Un paciente → una identidad → múltiples procesos conectados.”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4069080" y="1664208"/>
            <a:ext cx="2011680" cy="1572768"/>
          </a:xfrm>
          <a:prstGeom prst="roundRect">
            <a:avLst>
              <a:gd name="adj" fmla="val 4651"/>
            </a:avLst>
          </a:prstGeom>
          <a:solidFill>
            <a:srgbClr val="111722"/>
          </a:solidFill>
          <a:ln w="13970">
            <a:solidFill>
              <a:srgbClr val="7B61FF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15384" y="181051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7B61FF">
                <a:alpha val="85000"/>
              </a:srgbClr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5112" y="1920240"/>
            <a:ext cx="256032" cy="25603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782312" y="1810512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Identidad dispersa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233672" y="2377440"/>
            <a:ext cx="16824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Riesgo de duplicidad e inconsistencias si el RUT no se valida de forma transversal.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355080" y="1664208"/>
            <a:ext cx="2011680" cy="1572768"/>
          </a:xfrm>
          <a:prstGeom prst="roundRect">
            <a:avLst>
              <a:gd name="adj" fmla="val 4651"/>
            </a:avLst>
          </a:prstGeom>
          <a:solidFill>
            <a:srgbClr val="111722"/>
          </a:solidFill>
          <a:ln w="13970">
            <a:solidFill>
              <a:srgbClr val="F2994A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501384" y="181051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F2994A">
                <a:alpha val="85000"/>
              </a:srgbClr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1112" y="1920240"/>
            <a:ext cx="256032" cy="25603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068312" y="1810512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Retranscripción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6519672" y="2377440"/>
            <a:ext cx="16824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Datos ya registrados en Clínica vuelven a digitarse en Óptica, aumentando trabajo y errores.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4069080" y="3493008"/>
            <a:ext cx="2011680" cy="1572768"/>
          </a:xfrm>
          <a:prstGeom prst="roundRect">
            <a:avLst>
              <a:gd name="adj" fmla="val 4651"/>
            </a:avLst>
          </a:prstGeom>
          <a:solidFill>
            <a:srgbClr val="111722"/>
          </a:solidFill>
          <a:ln w="13970">
            <a:solidFill>
              <a:srgbClr val="2F80ED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215384" y="363931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2F80ED">
                <a:alpha val="85000"/>
              </a:srgbClr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25112" y="3749040"/>
            <a:ext cx="256032" cy="25603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4782312" y="3639312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Flujos separados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4233672" y="4206240"/>
            <a:ext cx="16824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Atención, receta, cotización, venta y seguimiento no comparten una trazabilidad común.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6355080" y="3493008"/>
            <a:ext cx="2011680" cy="1572768"/>
          </a:xfrm>
          <a:prstGeom prst="roundRect">
            <a:avLst>
              <a:gd name="adj" fmla="val 4651"/>
            </a:avLst>
          </a:prstGeom>
          <a:solidFill>
            <a:srgbClr val="111722"/>
          </a:solidFill>
          <a:ln w="13970">
            <a:solidFill>
              <a:srgbClr val="27AE60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6501384" y="363931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27AE60">
                <a:alpha val="85000"/>
              </a:srgbClr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1112" y="3749040"/>
            <a:ext cx="256032" cy="256032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7068312" y="3639312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Gobierno de accesos</a:t>
            </a:r>
            <a:endParaRPr lang="en-US" sz="1400" dirty="0"/>
          </a:p>
        </p:txBody>
      </p:sp>
      <p:sp>
        <p:nvSpPr>
          <p:cNvPr id="42" name="Text 36"/>
          <p:cNvSpPr/>
          <p:nvPr/>
        </p:nvSpPr>
        <p:spPr>
          <a:xfrm>
            <a:off x="6519672" y="4206240"/>
            <a:ext cx="16824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Los datos clínicos requieren RBAC, mínimo privilegio y auditoría de acciones críticas.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4087368" y="5440680"/>
            <a:ext cx="42976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Consecuencia: mayor carga administrativa, menor trazabilidad y mayor exposición a incidentes de privacidad.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A8A"/>
                </a:solidFill>
                <a:latin typeface="Roboto Condensed"/>
                <a:ea typeface="Roboto Condensed"/>
                <a:cs typeface="Roboto Condense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0" y="0"/>
            <a:ext cx="274320" cy="32004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320040"/>
            <a:ext cx="82296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32004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73152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457200"/>
            <a:ext cx="91440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457200"/>
            <a:ext cx="274320" cy="41148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8229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0"/>
            <a:ext cx="320040" cy="27432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274320"/>
            <a:ext cx="64008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274320"/>
            <a:ext cx="228600" cy="36576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5943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4739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38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CAPSTONE · CSA PLATFORM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4754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SOLUCIÓN PROPUESTA — MVP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30352" y="987552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El Capstone se limita a la primera etapa operacional definida por CSA.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1344168"/>
            <a:ext cx="91440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1627632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EB5757">
              <a:alpha val="20000"/>
            </a:srgbClr>
          </a:solidFill>
          <a:ln w="10160">
            <a:solidFill>
              <a:srgbClr val="EB5757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166420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B575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P0 · CRÍTICO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949440" y="1627632"/>
            <a:ext cx="1554480" cy="256032"/>
          </a:xfrm>
          <a:prstGeom prst="roundRect">
            <a:avLst>
              <a:gd name="adj" fmla="val 21429"/>
            </a:avLst>
          </a:prstGeom>
          <a:solidFill>
            <a:srgbClr val="2F80ED">
              <a:alpha val="20000"/>
            </a:srgbClr>
          </a:solidFill>
          <a:ln w="10160">
            <a:solidFill>
              <a:srgbClr val="2F80ED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1664208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F80E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P1 · IMPORTANTE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2971800" y="1691640"/>
            <a:ext cx="3154680" cy="758952"/>
          </a:xfrm>
          <a:prstGeom prst="roundRect">
            <a:avLst>
              <a:gd name="adj" fmla="val 10843"/>
            </a:avLst>
          </a:prstGeom>
          <a:solidFill>
            <a:srgbClr val="DDF7EF"/>
          </a:solidFill>
          <a:ln w="1651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1874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C2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Core CSA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218688" y="21671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28504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RUT · usuarios · roles · permisos · auditoría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658368" y="2971800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111722"/>
          </a:solidFill>
          <a:ln w="15240">
            <a:solidFill>
              <a:srgbClr val="EB5757">
                <a:alpha val="85000"/>
              </a:srgbClr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4672" y="3136392"/>
            <a:ext cx="292608" cy="29260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79576" y="311810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Módulo Clínico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2423160" y="3118104"/>
            <a:ext cx="347472" cy="256032"/>
          </a:xfrm>
          <a:prstGeom prst="roundRect">
            <a:avLst>
              <a:gd name="adj" fmla="val 21429"/>
            </a:avLst>
          </a:prstGeom>
          <a:solidFill>
            <a:srgbClr val="EB5757">
              <a:alpha val="92000"/>
            </a:srgbClr>
          </a:solidFill>
          <a:ln w="10160">
            <a:solidFill>
              <a:srgbClr val="EB5757">
                <a:alpha val="9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459736" y="3145536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P0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22960" y="3611880"/>
            <a:ext cx="1911096" cy="9875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Ficha clínica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Atenciones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Documentos / exámenes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Receta óptica</a:t>
            </a:r>
            <a:endParaRPr lang="en-US" sz="1110" dirty="0"/>
          </a:p>
        </p:txBody>
      </p:sp>
      <p:sp>
        <p:nvSpPr>
          <p:cNvPr id="31" name="Shape 28"/>
          <p:cNvSpPr/>
          <p:nvPr/>
        </p:nvSpPr>
        <p:spPr>
          <a:xfrm>
            <a:off x="3447288" y="2971800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111722"/>
          </a:solidFill>
          <a:ln w="15240">
            <a:solidFill>
              <a:srgbClr val="2F80ED">
                <a:alpha val="85000"/>
              </a:srgbClr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3592" y="3136392"/>
            <a:ext cx="292608" cy="29260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968496" y="311810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Módulo Óptica</a:t>
            </a:r>
            <a:endParaRPr lang="en-US" sz="1450" dirty="0"/>
          </a:p>
        </p:txBody>
      </p:sp>
      <p:sp>
        <p:nvSpPr>
          <p:cNvPr id="34" name="Shape 30"/>
          <p:cNvSpPr/>
          <p:nvPr/>
        </p:nvSpPr>
        <p:spPr>
          <a:xfrm>
            <a:off x="5212080" y="3118104"/>
            <a:ext cx="347472" cy="256032"/>
          </a:xfrm>
          <a:prstGeom prst="roundRect">
            <a:avLst>
              <a:gd name="adj" fmla="val 21429"/>
            </a:avLst>
          </a:prstGeom>
          <a:solidFill>
            <a:srgbClr val="2F80ED">
              <a:alpha val="92000"/>
            </a:srgbClr>
          </a:solidFill>
          <a:ln w="1016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248656" y="3145536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P0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3611880" y="3611880"/>
            <a:ext cx="1911096" cy="9875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Receta vigente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Productos / SKU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Cotización · venta · pago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Orden e inventario básico</a:t>
            </a:r>
            <a:endParaRPr lang="en-US" sz="1110" dirty="0"/>
          </a:p>
        </p:txBody>
      </p:sp>
      <p:sp>
        <p:nvSpPr>
          <p:cNvPr id="37" name="Shape 33"/>
          <p:cNvSpPr/>
          <p:nvPr/>
        </p:nvSpPr>
        <p:spPr>
          <a:xfrm>
            <a:off x="6236208" y="2971800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111722"/>
          </a:solidFill>
          <a:ln w="15240">
            <a:solidFill>
              <a:srgbClr val="7B61FF">
                <a:alpha val="85000"/>
              </a:srgbClr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82512" y="3136392"/>
            <a:ext cx="292608" cy="29260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757416" y="311810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CRM + Dashboard</a:t>
            </a:r>
            <a:endParaRPr lang="en-US" sz="1450" dirty="0"/>
          </a:p>
        </p:txBody>
      </p:sp>
      <p:sp>
        <p:nvSpPr>
          <p:cNvPr id="40" name="Shape 35"/>
          <p:cNvSpPr/>
          <p:nvPr/>
        </p:nvSpPr>
        <p:spPr>
          <a:xfrm>
            <a:off x="8001000" y="3118104"/>
            <a:ext cx="347472" cy="256032"/>
          </a:xfrm>
          <a:prstGeom prst="roundRect">
            <a:avLst>
              <a:gd name="adj" fmla="val 21429"/>
            </a:avLst>
          </a:prstGeom>
          <a:solidFill>
            <a:srgbClr val="7B61FF">
              <a:alpha val="92000"/>
            </a:srgbClr>
          </a:solidFill>
          <a:ln w="10160">
            <a:solidFill>
              <a:srgbClr val="7B61FF">
                <a:alpha val="90000"/>
              </a:srgbClr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037576" y="3145536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P1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6400800" y="3611880"/>
            <a:ext cx="1911096" cy="9875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Empresas · contactos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Oportunidades / pipeline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Dashboard y KPI básicos</a:t>
            </a:r>
            <a:endParaRPr lang="en-US" sz="1110" dirty="0"/>
          </a:p>
        </p:txBody>
      </p:sp>
      <p:sp>
        <p:nvSpPr>
          <p:cNvPr id="43" name="Shape 38"/>
          <p:cNvSpPr/>
          <p:nvPr/>
        </p:nvSpPr>
        <p:spPr>
          <a:xfrm>
            <a:off x="4553712" y="2450592"/>
            <a:ext cx="-2761488" cy="502920"/>
          </a:xfrm>
          <a:prstGeom prst="line">
            <a:avLst/>
          </a:prstGeom>
          <a:noFill/>
          <a:ln w="12700">
            <a:solidFill>
              <a:srgbClr val="768393">
                <a:alpha val="8500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4553712" y="2450592"/>
            <a:ext cx="0" cy="502920"/>
          </a:xfrm>
          <a:prstGeom prst="line">
            <a:avLst/>
          </a:prstGeom>
          <a:noFill/>
          <a:ln w="12700">
            <a:solidFill>
              <a:srgbClr val="768393">
                <a:alpha val="85000"/>
              </a:srgbClr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4553712" y="2450592"/>
            <a:ext cx="2788920" cy="502920"/>
          </a:xfrm>
          <a:prstGeom prst="line">
            <a:avLst/>
          </a:prstGeom>
          <a:noFill/>
          <a:ln w="12700">
            <a:solidFill>
              <a:srgbClr val="768393">
                <a:alpha val="85000"/>
              </a:srgbClr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596896" y="515721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FLUJO CRÍTICO DEL MVP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1828800" y="5486400"/>
            <a:ext cx="1965960" cy="438912"/>
          </a:xfrm>
          <a:prstGeom prst="roundRect">
            <a:avLst>
              <a:gd name="adj" fmla="val 12500"/>
            </a:avLst>
          </a:prstGeom>
          <a:solidFill>
            <a:srgbClr val="151E28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1965960" y="559612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Receta generada en Clínica</a:t>
            </a:r>
            <a:endParaRPr lang="en-US" sz="1120" dirty="0"/>
          </a:p>
        </p:txBody>
      </p:sp>
      <p:sp>
        <p:nvSpPr>
          <p:cNvPr id="49" name="Shape 44"/>
          <p:cNvSpPr/>
          <p:nvPr/>
        </p:nvSpPr>
        <p:spPr>
          <a:xfrm>
            <a:off x="4041648" y="5559552"/>
            <a:ext cx="548640" cy="256032"/>
          </a:xfrm>
          <a:prstGeom prst="chevron">
            <a:avLst/>
          </a:prstGeom>
          <a:solidFill>
            <a:srgbClr val="2EC4B6">
              <a:alpha val="85000"/>
            </a:srgbClr>
          </a:solidFill>
          <a:ln w="12700">
            <a:solidFill>
              <a:srgbClr val="2EC4B6">
                <a:alpha val="0"/>
              </a:srgbClr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4773168" y="5486400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151E28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4910328" y="55961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0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Óptica reutiliza sin retranscripción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A8A"/>
                </a:solidFill>
                <a:latin typeface="Roboto Condensed"/>
                <a:ea typeface="Roboto Condensed"/>
                <a:cs typeface="Roboto Condense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0" y="0"/>
            <a:ext cx="274320" cy="32004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320040"/>
            <a:ext cx="82296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32004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73152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457200"/>
            <a:ext cx="91440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457200"/>
            <a:ext cx="274320" cy="41148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8229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0"/>
            <a:ext cx="320040" cy="27432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274320"/>
            <a:ext cx="64008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274320"/>
            <a:ext cx="228600" cy="36576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5943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4739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38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CAPSTONE · CSA PLATFORM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4754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OBJETIVOS, ALCANCE Y PERFIL DE EGRESO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30352" y="987552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El proyecto se evalúa por su capacidad de construir un MVP factible y verificable.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1344168"/>
            <a:ext cx="91440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16459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0B121B"/>
          </a:solidFill>
          <a:ln w="15240">
            <a:solidFill>
              <a:srgbClr val="2F80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47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0E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OBJETIVO GENERAL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" y="2176272"/>
            <a:ext cx="36118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Desarrollar un MVP que centralice los procesos clínicos, ópticos y comerciales mediante una Arquitectura Monolítica Modular, reduciendo duplicidad y mejorando la trazabilidad.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46320" y="1645920"/>
            <a:ext cx="3703320" cy="1234440"/>
          </a:xfrm>
          <a:prstGeom prst="roundRect">
            <a:avLst>
              <a:gd name="adj" fmla="val 5926"/>
            </a:avLst>
          </a:prstGeom>
          <a:solidFill>
            <a:srgbClr val="0B121B"/>
          </a:solidFill>
          <a:ln w="1524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56632" y="18470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ALCANCE CAPSTONE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56632" y="2212848"/>
            <a:ext cx="3246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Solo MVP. Las Fases 2 (automatización e integraciones) y 3 (inteligencia y escalabilidad) quedan como proyección futura.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621792" y="3246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Competencias del perfil de egreso aplicadas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" y="3657600"/>
            <a:ext cx="3703320" cy="1115568"/>
          </a:xfrm>
          <a:prstGeom prst="roundRect">
            <a:avLst>
              <a:gd name="adj" fmla="val 6557"/>
            </a:avLst>
          </a:prstGeom>
          <a:solidFill>
            <a:srgbClr val="111722"/>
          </a:solidFill>
          <a:ln w="13970">
            <a:solidFill>
              <a:srgbClr val="27AE60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8096" y="380390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27AE60">
                <a:alpha val="85000"/>
              </a:srgbClr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824" y="3913632"/>
            <a:ext cx="256032" cy="25603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335024" y="380390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Pruebas de certificación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86384" y="4370832"/>
            <a:ext cx="33741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Unitarias, integración, funcionales y seguridad.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608576" y="3657600"/>
            <a:ext cx="3703320" cy="1115568"/>
          </a:xfrm>
          <a:prstGeom prst="roundRect">
            <a:avLst>
              <a:gd name="adj" fmla="val 6557"/>
            </a:avLst>
          </a:prstGeom>
          <a:solidFill>
            <a:srgbClr val="111722"/>
          </a:solidFill>
          <a:ln w="13970">
            <a:solidFill>
              <a:srgbClr val="F2994A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54880" y="380390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F2994A">
                <a:alpha val="85000"/>
              </a:srgbClr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4608" y="3913632"/>
            <a:ext cx="256032" cy="25603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321808" y="380390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Gestión de proyectos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4773168" y="4370832"/>
            <a:ext cx="33741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Scrum, backlog P0/P1, control de avances.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621792" y="4983480"/>
            <a:ext cx="3703320" cy="1115568"/>
          </a:xfrm>
          <a:prstGeom prst="roundRect">
            <a:avLst>
              <a:gd name="adj" fmla="val 6557"/>
            </a:avLst>
          </a:prstGeom>
          <a:solidFill>
            <a:srgbClr val="111722"/>
          </a:solidFill>
          <a:ln w="13970">
            <a:solidFill>
              <a:srgbClr val="2F80ED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768096" y="512978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2F80ED">
                <a:alpha val="85000"/>
              </a:srgbClr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7824" y="5239512"/>
            <a:ext cx="256032" cy="256032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335024" y="512978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Modelado de datos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786384" y="5696712"/>
            <a:ext cx="33741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Modelo relacional MySQL e integridad referencial.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4608576" y="4983480"/>
            <a:ext cx="3703320" cy="1115568"/>
          </a:xfrm>
          <a:prstGeom prst="roundRect">
            <a:avLst>
              <a:gd name="adj" fmla="val 6557"/>
            </a:avLst>
          </a:prstGeom>
          <a:solidFill>
            <a:srgbClr val="111722"/>
          </a:solidFill>
          <a:ln w="13970">
            <a:solidFill>
              <a:srgbClr val="7B61FF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4754880" y="512978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7B61FF">
                <a:alpha val="85000"/>
              </a:srgbClr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4608" y="5239512"/>
            <a:ext cx="256032" cy="256032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321808" y="512978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Desarrollo de software</a:t>
            </a:r>
            <a:endParaRPr lang="en-US" sz="1400" dirty="0"/>
          </a:p>
        </p:txBody>
      </p:sp>
      <p:sp>
        <p:nvSpPr>
          <p:cNvPr id="44" name="Text 38"/>
          <p:cNvSpPr/>
          <p:nvPr/>
        </p:nvSpPr>
        <p:spPr>
          <a:xfrm>
            <a:off x="4773168" y="5696712"/>
            <a:ext cx="33741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Angular + Django REST Framework + API REST.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A8A"/>
                </a:solidFill>
                <a:latin typeface="Roboto Condensed"/>
                <a:ea typeface="Roboto Condensed"/>
                <a:cs typeface="Roboto Condense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0" y="0"/>
            <a:ext cx="274320" cy="32004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320040"/>
            <a:ext cx="82296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32004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73152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457200"/>
            <a:ext cx="91440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457200"/>
            <a:ext cx="274320" cy="41148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8229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0"/>
            <a:ext cx="320040" cy="27432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274320"/>
            <a:ext cx="64008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274320"/>
            <a:ext cx="228600" cy="36576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5943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4739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38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CAPSTONE · CSA PLATFORM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4754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REQUERIMIENTOS QUE CONDICIONAN LA SOLUCIÓN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30352" y="987552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 arquitectura se diseña alrededor de restricciones funcionales, de seguridad y operación.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1344168"/>
            <a:ext cx="91440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" y="16916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11722"/>
          </a:solidFill>
          <a:ln w="13970">
            <a:solidFill>
              <a:srgbClr val="7B61FF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2376" y="183794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7B61FF">
                <a:alpha val="85000"/>
              </a:srgbClr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2104" y="1947672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89304" y="1837944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Identidad única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40664" y="2404872"/>
            <a:ext cx="218541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 paciente → un RUT → múltiples procesos conectados.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364992" y="16916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11722"/>
          </a:solidFill>
          <a:ln w="13970">
            <a:solidFill>
              <a:srgbClr val="27AE60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511296" y="183794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27AE60">
                <a:alpha val="85000"/>
              </a:srgbClr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21024" y="1947672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078224" y="1837944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Seguridad y RBAC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3529584" y="2404872"/>
            <a:ext cx="218541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Roles, mínimo privilegio y protección de información sensible.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153912" y="16916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11722"/>
          </a:solidFill>
          <a:ln w="13970">
            <a:solidFill>
              <a:srgbClr val="F2C94C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300216" y="183794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F2C94C">
                <a:alpha val="85000"/>
              </a:srgbClr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9944" y="1947672"/>
            <a:ext cx="256032" cy="25603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867144" y="1837944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Trazabilidad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6318504" y="2404872"/>
            <a:ext cx="218541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Auditoría de acciones críticas y cambios sobre datos relevantes.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76072" y="37490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11722"/>
          </a:solidFill>
          <a:ln w="13970">
            <a:solidFill>
              <a:srgbClr val="2F80ED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722376" y="389534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2F80ED">
                <a:alpha val="85000"/>
              </a:srgbClr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2104" y="4005072"/>
            <a:ext cx="256032" cy="25603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289304" y="3895344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Gestión documental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740664" y="4462272"/>
            <a:ext cx="218541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PDF, imágenes y exámenes en Object Storage; metadatos en BD.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3364992" y="37490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11722"/>
          </a:solidFill>
          <a:ln w="13970">
            <a:solidFill>
              <a:srgbClr val="EB5757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3511296" y="389534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EB5757">
                <a:alpha val="85000"/>
              </a:srgbClr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21024" y="4005072"/>
            <a:ext cx="256032" cy="25603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4078224" y="3895344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Integración por API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3529584" y="4462272"/>
            <a:ext cx="218541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REST/JSON sobre HTTPS; futuras integraciones desacopladas.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6153912" y="37490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11722"/>
          </a:solidFill>
          <a:ln w="13970">
            <a:solidFill>
              <a:srgbClr val="7B61FF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6300216" y="389534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7B61FF">
                <a:alpha val="85000"/>
              </a:srgbClr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09944" y="4005072"/>
            <a:ext cx="256032" cy="256032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867144" y="3895344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Evolución</a:t>
            </a:r>
            <a:endParaRPr lang="en-US" sz="1400" dirty="0"/>
          </a:p>
        </p:txBody>
      </p:sp>
      <p:sp>
        <p:nvSpPr>
          <p:cNvPr id="47" name="Text 39"/>
          <p:cNvSpPr/>
          <p:nvPr/>
        </p:nvSpPr>
        <p:spPr>
          <a:xfrm>
            <a:off x="6318504" y="4462272"/>
            <a:ext cx="218541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Arquitectura Monolítica Modular preparada para crecer por fases.</a:t>
            </a:r>
            <a:endParaRPr lang="en-US" sz="1050" dirty="0"/>
          </a:p>
        </p:txBody>
      </p:sp>
      <p:sp>
        <p:nvSpPr>
          <p:cNvPr id="48" name="Shape 40"/>
          <p:cNvSpPr/>
          <p:nvPr/>
        </p:nvSpPr>
        <p:spPr>
          <a:xfrm>
            <a:off x="850392" y="5989320"/>
            <a:ext cx="7543800" cy="347472"/>
          </a:xfrm>
          <a:prstGeom prst="roundRect">
            <a:avLst>
              <a:gd name="adj" fmla="val 15789"/>
            </a:avLst>
          </a:prstGeom>
          <a:solidFill>
            <a:srgbClr val="0D1720"/>
          </a:solidFill>
          <a:ln w="10160">
            <a:solidFill>
              <a:srgbClr val="2A394B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1051560" y="608076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DDE5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Decisión clave: priorizar estabilidad, seguridad y simplicidad operacional antes que complejidad técnica.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A8A"/>
                </a:solidFill>
                <a:latin typeface="Roboto Condensed"/>
                <a:ea typeface="Roboto Condensed"/>
                <a:cs typeface="Roboto Condense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0" y="0"/>
            <a:ext cx="274320" cy="32004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320040"/>
            <a:ext cx="82296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32004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73152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457200"/>
            <a:ext cx="91440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457200"/>
            <a:ext cx="274320" cy="41148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8229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0"/>
            <a:ext cx="320040" cy="27432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274320"/>
            <a:ext cx="64008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274320"/>
            <a:ext cx="228600" cy="36576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5943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4739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38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CAPSTONE · CSA PLATFORM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4754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ANÁLISIS PESTEL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30352" y="987552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Macroentorno que puede influir en CSA y en la adopción de la plataforma.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1344168"/>
            <a:ext cx="91440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1719072"/>
            <a:ext cx="2487168" cy="1554480"/>
          </a:xfrm>
          <a:prstGeom prst="roundRect">
            <a:avLst>
              <a:gd name="adj" fmla="val 4706"/>
            </a:avLst>
          </a:prstGeom>
          <a:solidFill>
            <a:srgbClr val="111722"/>
          </a:solidFill>
          <a:ln w="13970">
            <a:solidFill>
              <a:srgbClr val="2F80ED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" y="1856232"/>
            <a:ext cx="502920" cy="502920"/>
          </a:xfrm>
          <a:prstGeom prst="ellipse">
            <a:avLst/>
          </a:prstGeom>
          <a:solidFill>
            <a:srgbClr val="2F80ED">
              <a:alpha val="94000"/>
            </a:srgbClr>
          </a:solidFill>
          <a:ln w="8890">
            <a:solidFill>
              <a:srgbClr val="2F80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" y="1929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44168" y="187452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Político</a:t>
            </a:r>
            <a:endParaRPr lang="en-US" sz="1310" dirty="0"/>
          </a:p>
        </p:txBody>
      </p:sp>
      <p:sp>
        <p:nvSpPr>
          <p:cNvPr id="22" name="Shape 20"/>
          <p:cNvSpPr/>
          <p:nvPr/>
        </p:nvSpPr>
        <p:spPr>
          <a:xfrm>
            <a:off x="2404872" y="1865376"/>
            <a:ext cx="530352" cy="256032"/>
          </a:xfrm>
          <a:prstGeom prst="roundRect">
            <a:avLst>
              <a:gd name="adj" fmla="val 21429"/>
            </a:avLst>
          </a:prstGeom>
          <a:solidFill>
            <a:srgbClr val="2F80ED">
              <a:alpha val="92000"/>
            </a:srgbClr>
          </a:solidFill>
          <a:ln w="10160">
            <a:solidFill>
              <a:srgbClr val="2F80ED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41448" y="189280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Medio-Alto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8952" y="2468880"/>
            <a:ext cx="214884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Fiscalización activa en seguridad y salud laboral; presión por trazabilidad.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3337560" y="1719072"/>
            <a:ext cx="2487168" cy="1554480"/>
          </a:xfrm>
          <a:prstGeom prst="roundRect">
            <a:avLst>
              <a:gd name="adj" fmla="val 4706"/>
            </a:avLst>
          </a:prstGeom>
          <a:solidFill>
            <a:srgbClr val="111722"/>
          </a:solidFill>
          <a:ln w="13970">
            <a:solidFill>
              <a:srgbClr val="F2994A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65576" y="1856232"/>
            <a:ext cx="502920" cy="502920"/>
          </a:xfrm>
          <a:prstGeom prst="ellipse">
            <a:avLst/>
          </a:prstGeom>
          <a:solidFill>
            <a:srgbClr val="F2994A">
              <a:alpha val="94000"/>
            </a:srgbClr>
          </a:solidFill>
          <a:ln w="8890">
            <a:solidFill>
              <a:srgbClr val="F299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5576" y="1929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087368" y="187452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Económico</a:t>
            </a:r>
            <a:endParaRPr lang="en-US" sz="1310" dirty="0"/>
          </a:p>
        </p:txBody>
      </p:sp>
      <p:sp>
        <p:nvSpPr>
          <p:cNvPr id="29" name="Shape 27"/>
          <p:cNvSpPr/>
          <p:nvPr/>
        </p:nvSpPr>
        <p:spPr>
          <a:xfrm>
            <a:off x="5148072" y="1865376"/>
            <a:ext cx="530352" cy="256032"/>
          </a:xfrm>
          <a:prstGeom prst="roundRect">
            <a:avLst>
              <a:gd name="adj" fmla="val 21429"/>
            </a:avLst>
          </a:prstGeom>
          <a:solidFill>
            <a:srgbClr val="F2994A">
              <a:alpha val="92000"/>
            </a:srgbClr>
          </a:solidFill>
          <a:ln w="10160">
            <a:solidFill>
              <a:srgbClr val="F2994A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84648" y="189280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Medio-Alto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02152" y="2468880"/>
            <a:ext cx="214884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Inflación, actividad y empleo pueden afectar presupuestos B2B y demanda.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6080760" y="1719072"/>
            <a:ext cx="2487168" cy="1554480"/>
          </a:xfrm>
          <a:prstGeom prst="roundRect">
            <a:avLst>
              <a:gd name="adj" fmla="val 4706"/>
            </a:avLst>
          </a:prstGeom>
          <a:solidFill>
            <a:srgbClr val="111722"/>
          </a:solidFill>
          <a:ln w="13970">
            <a:solidFill>
              <a:srgbClr val="7B61FF">
                <a:alpha val="7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08776" y="1856232"/>
            <a:ext cx="502920" cy="502920"/>
          </a:xfrm>
          <a:prstGeom prst="ellipse">
            <a:avLst/>
          </a:prstGeom>
          <a:solidFill>
            <a:srgbClr val="7B61FF">
              <a:alpha val="94000"/>
            </a:srgbClr>
          </a:solidFill>
          <a:ln w="8890">
            <a:solidFill>
              <a:srgbClr val="7B61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08776" y="1929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830568" y="187452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Social</a:t>
            </a:r>
            <a:endParaRPr lang="en-US" sz="1310" dirty="0"/>
          </a:p>
        </p:txBody>
      </p:sp>
      <p:sp>
        <p:nvSpPr>
          <p:cNvPr id="36" name="Shape 34"/>
          <p:cNvSpPr/>
          <p:nvPr/>
        </p:nvSpPr>
        <p:spPr>
          <a:xfrm>
            <a:off x="7891272" y="1865376"/>
            <a:ext cx="530352" cy="256032"/>
          </a:xfrm>
          <a:prstGeom prst="roundRect">
            <a:avLst>
              <a:gd name="adj" fmla="val 21429"/>
            </a:avLst>
          </a:prstGeom>
          <a:solidFill>
            <a:srgbClr val="7B61FF">
              <a:alpha val="92000"/>
            </a:srgbClr>
          </a:solidFill>
          <a:ln w="10160">
            <a:solidFill>
              <a:srgbClr val="7B61FF">
                <a:alpha val="9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27848" y="189280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Alto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45352" y="2468880"/>
            <a:ext cx="214884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Alta conectividad favorece adopción web; privacidad y confianza siguen siendo críticas.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>
            <a:off x="594360" y="3593592"/>
            <a:ext cx="2487168" cy="1554480"/>
          </a:xfrm>
          <a:prstGeom prst="roundRect">
            <a:avLst>
              <a:gd name="adj" fmla="val 4706"/>
            </a:avLst>
          </a:prstGeom>
          <a:solidFill>
            <a:srgbClr val="111722"/>
          </a:solidFill>
          <a:ln w="13970">
            <a:solidFill>
              <a:srgbClr val="2EC4B6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2376" y="3730752"/>
            <a:ext cx="502920" cy="502920"/>
          </a:xfrm>
          <a:prstGeom prst="ellipse">
            <a:avLst/>
          </a:prstGeom>
          <a:solidFill>
            <a:srgbClr val="2EC4B6">
              <a:alpha val="94000"/>
            </a:srgbClr>
          </a:solidFill>
          <a:ln w="8890">
            <a:solidFill>
              <a:srgbClr val="2EC4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376" y="38039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344168" y="374904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Tecnológico</a:t>
            </a:r>
            <a:endParaRPr lang="en-US" sz="1310" dirty="0"/>
          </a:p>
        </p:txBody>
      </p:sp>
      <p:sp>
        <p:nvSpPr>
          <p:cNvPr id="43" name="Shape 41"/>
          <p:cNvSpPr/>
          <p:nvPr/>
        </p:nvSpPr>
        <p:spPr>
          <a:xfrm>
            <a:off x="2404872" y="3739896"/>
            <a:ext cx="530352" cy="256032"/>
          </a:xfrm>
          <a:prstGeom prst="roundRect">
            <a:avLst>
              <a:gd name="adj" fmla="val 21429"/>
            </a:avLst>
          </a:prstGeom>
          <a:solidFill>
            <a:srgbClr val="2EC4B6">
              <a:alpha val="92000"/>
            </a:srgbClr>
          </a:solidFill>
          <a:ln w="10160">
            <a:solidFill>
              <a:srgbClr val="2EC4B6">
                <a:alpha val="9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41448" y="376732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Alto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58952" y="4343400"/>
            <a:ext cx="214884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Web, APIs y cloud habilitan la solución, pero generan dependencia externa.</a:t>
            </a:r>
            <a:endParaRPr lang="en-US" sz="1030" dirty="0"/>
          </a:p>
        </p:txBody>
      </p:sp>
      <p:sp>
        <p:nvSpPr>
          <p:cNvPr id="46" name="Shape 44"/>
          <p:cNvSpPr/>
          <p:nvPr/>
        </p:nvSpPr>
        <p:spPr>
          <a:xfrm>
            <a:off x="3337560" y="3593592"/>
            <a:ext cx="2487168" cy="1554480"/>
          </a:xfrm>
          <a:prstGeom prst="roundRect">
            <a:avLst>
              <a:gd name="adj" fmla="val 4706"/>
            </a:avLst>
          </a:prstGeom>
          <a:solidFill>
            <a:srgbClr val="111722"/>
          </a:solidFill>
          <a:ln w="13970">
            <a:solidFill>
              <a:srgbClr val="27AE60">
                <a:alpha val="7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65576" y="3730752"/>
            <a:ext cx="502920" cy="502920"/>
          </a:xfrm>
          <a:prstGeom prst="ellipse">
            <a:avLst/>
          </a:prstGeom>
          <a:solidFill>
            <a:srgbClr val="27AE60">
              <a:alpha val="94000"/>
            </a:srgbClr>
          </a:solidFill>
          <a:ln w="8890">
            <a:solidFill>
              <a:srgbClr val="27AE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65576" y="38039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4087368" y="374904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Ecológico</a:t>
            </a:r>
            <a:endParaRPr lang="en-US" sz="1310" dirty="0"/>
          </a:p>
        </p:txBody>
      </p:sp>
      <p:sp>
        <p:nvSpPr>
          <p:cNvPr id="50" name="Shape 48"/>
          <p:cNvSpPr/>
          <p:nvPr/>
        </p:nvSpPr>
        <p:spPr>
          <a:xfrm>
            <a:off x="5148072" y="3739896"/>
            <a:ext cx="530352" cy="256032"/>
          </a:xfrm>
          <a:prstGeom prst="roundRect">
            <a:avLst>
              <a:gd name="adj" fmla="val 21429"/>
            </a:avLst>
          </a:prstGeom>
          <a:solidFill>
            <a:srgbClr val="27AE60">
              <a:alpha val="92000"/>
            </a:srgbClr>
          </a:solidFill>
          <a:ln w="10160">
            <a:solidFill>
              <a:srgbClr val="27AE60">
                <a:alpha val="9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84648" y="376732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Bajo-Medio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502152" y="4343400"/>
            <a:ext cx="214884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 digitalización puede reducir impresiones y duplicación de documentos.</a:t>
            </a:r>
            <a:endParaRPr lang="en-US" sz="1030" dirty="0"/>
          </a:p>
        </p:txBody>
      </p:sp>
      <p:sp>
        <p:nvSpPr>
          <p:cNvPr id="53" name="Shape 51"/>
          <p:cNvSpPr/>
          <p:nvPr/>
        </p:nvSpPr>
        <p:spPr>
          <a:xfrm>
            <a:off x="6080760" y="3593592"/>
            <a:ext cx="2487168" cy="1554480"/>
          </a:xfrm>
          <a:prstGeom prst="roundRect">
            <a:avLst>
              <a:gd name="adj" fmla="val 4706"/>
            </a:avLst>
          </a:prstGeom>
          <a:solidFill>
            <a:srgbClr val="111722"/>
          </a:solidFill>
          <a:ln w="13970">
            <a:solidFill>
              <a:srgbClr val="EB5757">
                <a:alpha val="7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08776" y="3730752"/>
            <a:ext cx="502920" cy="502920"/>
          </a:xfrm>
          <a:prstGeom prst="ellipse">
            <a:avLst/>
          </a:prstGeom>
          <a:solidFill>
            <a:srgbClr val="EB5757">
              <a:alpha val="94000"/>
            </a:srgbClr>
          </a:solidFill>
          <a:ln w="8890">
            <a:solidFill>
              <a:srgbClr val="EB575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08776" y="38039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6830568" y="374904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Legal</a:t>
            </a:r>
            <a:endParaRPr lang="en-US" sz="1310" dirty="0"/>
          </a:p>
        </p:txBody>
      </p:sp>
      <p:sp>
        <p:nvSpPr>
          <p:cNvPr id="57" name="Shape 55"/>
          <p:cNvSpPr/>
          <p:nvPr/>
        </p:nvSpPr>
        <p:spPr>
          <a:xfrm>
            <a:off x="7891272" y="3739896"/>
            <a:ext cx="530352" cy="256032"/>
          </a:xfrm>
          <a:prstGeom prst="roundRect">
            <a:avLst>
              <a:gd name="adj" fmla="val 21429"/>
            </a:avLst>
          </a:prstGeom>
          <a:solidFill>
            <a:srgbClr val="EB5757">
              <a:alpha val="92000"/>
            </a:srgbClr>
          </a:solidFill>
          <a:ln w="10160">
            <a:solidFill>
              <a:srgbClr val="EB5757">
                <a:alpha val="9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27848" y="376732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Muy Alto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245352" y="4343400"/>
            <a:ext cx="2148840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Datos de salud exigen controles estrictos y preparación para Ley 21.719.</a:t>
            </a:r>
            <a:endParaRPr lang="en-US" sz="1030" dirty="0"/>
          </a:p>
        </p:txBody>
      </p:sp>
      <p:sp>
        <p:nvSpPr>
          <p:cNvPr id="60" name="Text 58"/>
          <p:cNvSpPr/>
          <p:nvPr/>
        </p:nvSpPr>
        <p:spPr>
          <a:xfrm>
            <a:off x="685800" y="54406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0E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380.380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612648" y="57607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fiscalizaciones DT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2022–2025</a:t>
            </a:r>
            <a:endParaRPr lang="en-US" sz="940" dirty="0"/>
          </a:p>
        </p:txBody>
      </p:sp>
      <p:sp>
        <p:nvSpPr>
          <p:cNvPr id="62" name="Text 60"/>
          <p:cNvSpPr/>
          <p:nvPr/>
        </p:nvSpPr>
        <p:spPr>
          <a:xfrm>
            <a:off x="2148840" y="54406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994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9,5%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2084832" y="576072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desocupación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may–jul 2026</a:t>
            </a:r>
            <a:endParaRPr lang="en-US" sz="940" dirty="0"/>
          </a:p>
        </p:txBody>
      </p:sp>
      <p:sp>
        <p:nvSpPr>
          <p:cNvPr id="64" name="Text 62"/>
          <p:cNvSpPr/>
          <p:nvPr/>
        </p:nvSpPr>
        <p:spPr>
          <a:xfrm>
            <a:off x="3611880" y="54406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61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96,6%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3474720" y="5760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hogares con Internet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medición 2025</a:t>
            </a:r>
            <a:endParaRPr lang="en-US" sz="940" dirty="0"/>
          </a:p>
        </p:txBody>
      </p:sp>
      <p:sp>
        <p:nvSpPr>
          <p:cNvPr id="66" name="Shape 64"/>
          <p:cNvSpPr/>
          <p:nvPr/>
        </p:nvSpPr>
        <p:spPr>
          <a:xfrm>
            <a:off x="5166360" y="5413248"/>
            <a:ext cx="3246120" cy="768096"/>
          </a:xfrm>
          <a:prstGeom prst="roundRect">
            <a:avLst>
              <a:gd name="adj" fmla="val 7143"/>
            </a:avLst>
          </a:prstGeom>
          <a:solidFill>
            <a:srgbClr val="120D12"/>
          </a:solidFill>
          <a:ln w="12700">
            <a:solidFill>
              <a:srgbClr val="EB5757">
                <a:alpha val="8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67528" y="554126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B575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 DIC 2026</a:t>
            </a:r>
            <a:endParaRPr lang="en-US" sz="1700" dirty="0"/>
          </a:p>
        </p:txBody>
      </p:sp>
      <p:sp>
        <p:nvSpPr>
          <p:cNvPr id="68" name="Text 66"/>
          <p:cNvSpPr/>
          <p:nvPr/>
        </p:nvSpPr>
        <p:spPr>
          <a:xfrm>
            <a:off x="6473952" y="5559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entrada en vigencia de la Ley 21.719</a:t>
            </a:r>
            <a:endParaRPr lang="en-US" sz="1040" dirty="0"/>
          </a:p>
        </p:txBody>
      </p:sp>
      <p:sp>
        <p:nvSpPr>
          <p:cNvPr id="69" name="Text 67"/>
          <p:cNvSpPr/>
          <p:nvPr/>
        </p:nvSpPr>
        <p:spPr>
          <a:xfrm>
            <a:off x="5349240" y="592531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Fuentes: DT, BCCh, INE, SUBTEL, BCN, MMA.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A8A"/>
                </a:solidFill>
                <a:latin typeface="Roboto Condensed"/>
                <a:ea typeface="Roboto Condensed"/>
                <a:cs typeface="Roboto Condense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0" y="0"/>
            <a:ext cx="274320" cy="32004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320040"/>
            <a:ext cx="82296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32004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73152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457200"/>
            <a:ext cx="91440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457200"/>
            <a:ext cx="274320" cy="41148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8229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0"/>
            <a:ext cx="320040" cy="27432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274320"/>
            <a:ext cx="64008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274320"/>
            <a:ext cx="228600" cy="36576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5943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4739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38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CAPSTONE · CSA PLATFORM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4754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CINCO FUERZAS DE PORTER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30352" y="987552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Presión competitiva del mercado de salud preventiva y ocupacional.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1344168"/>
            <a:ext cx="91440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2606040"/>
            <a:ext cx="1645920" cy="1097280"/>
          </a:xfrm>
          <a:prstGeom prst="ellipse">
            <a:avLst/>
          </a:prstGeom>
          <a:solidFill>
            <a:srgbClr val="0E2238"/>
          </a:solidFill>
          <a:ln w="19050">
            <a:solidFill>
              <a:srgbClr val="2F80ED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13632" y="2807208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CSA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SALUD INTEGRAL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1691640"/>
            <a:ext cx="2743200" cy="1261872"/>
          </a:xfrm>
          <a:prstGeom prst="roundRect">
            <a:avLst>
              <a:gd name="adj" fmla="val 5072"/>
            </a:avLst>
          </a:prstGeom>
          <a:solidFill>
            <a:srgbClr val="111722"/>
          </a:solidFill>
          <a:ln w="13970">
            <a:solidFill>
              <a:srgbClr val="EB5757">
                <a:alpha val="75000"/>
              </a:srgbClr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0936" y="1819656"/>
            <a:ext cx="256032" cy="25603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60120" y="1801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Rivalidad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2679192" y="1801368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EB5757">
              <a:alpha val="92000"/>
            </a:srgbClr>
          </a:solidFill>
          <a:ln w="10160">
            <a:solidFill>
              <a:srgbClr val="EB5757">
                <a:alpha val="9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15768" y="1828800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MEDIA-ALTA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30936" y="2194560"/>
            <a:ext cx="2487168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C9D2D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Competencia por rapidez, precio, confianza e integración operacional.</a:t>
            </a:r>
            <a:endParaRPr lang="en-US" sz="970" dirty="0"/>
          </a:p>
        </p:txBody>
      </p:sp>
      <p:sp>
        <p:nvSpPr>
          <p:cNvPr id="26" name="Shape 23"/>
          <p:cNvSpPr/>
          <p:nvPr/>
        </p:nvSpPr>
        <p:spPr>
          <a:xfrm>
            <a:off x="5897880" y="1691640"/>
            <a:ext cx="2743200" cy="1261872"/>
          </a:xfrm>
          <a:prstGeom prst="roundRect">
            <a:avLst>
              <a:gd name="adj" fmla="val 5072"/>
            </a:avLst>
          </a:prstGeom>
          <a:solidFill>
            <a:srgbClr val="111722"/>
          </a:solidFill>
          <a:ln w="13970">
            <a:solidFill>
              <a:srgbClr val="F2994A">
                <a:alpha val="75000"/>
              </a:srgbClr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5896" y="1819656"/>
            <a:ext cx="256032" cy="25603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355080" y="1801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Nuevos entrantes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8074152" y="1801368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2994A">
              <a:alpha val="92000"/>
            </a:srgbClr>
          </a:solidFill>
          <a:ln w="10160">
            <a:solidFill>
              <a:srgbClr val="F2994A">
                <a:alpha val="90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110728" y="1828800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MEDIA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025896" y="2194560"/>
            <a:ext cx="2487168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C9D2D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Tecnología accesible, pero conocimiento sectorial y regulación elevan la barrera.</a:t>
            </a:r>
            <a:endParaRPr lang="en-US" sz="970" dirty="0"/>
          </a:p>
        </p:txBody>
      </p:sp>
      <p:sp>
        <p:nvSpPr>
          <p:cNvPr id="32" name="Shape 28"/>
          <p:cNvSpPr/>
          <p:nvPr/>
        </p:nvSpPr>
        <p:spPr>
          <a:xfrm>
            <a:off x="502920" y="4160520"/>
            <a:ext cx="2743200" cy="1261872"/>
          </a:xfrm>
          <a:prstGeom prst="roundRect">
            <a:avLst>
              <a:gd name="adj" fmla="val 5072"/>
            </a:avLst>
          </a:prstGeom>
          <a:solidFill>
            <a:srgbClr val="111722"/>
          </a:solidFill>
          <a:ln w="13970">
            <a:solidFill>
              <a:srgbClr val="2EC4B6">
                <a:alpha val="75000"/>
              </a:srgbClr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936" y="4288536"/>
            <a:ext cx="256032" cy="25603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960120" y="42702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Proveedores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2679192" y="4270248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2EC4B6">
              <a:alpha val="92000"/>
            </a:srgbClr>
          </a:solidFill>
          <a:ln w="10160">
            <a:solidFill>
              <a:srgbClr val="2EC4B6">
                <a:alpha val="90000"/>
              </a:srgbClr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2715768" y="4297680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MEDIA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630936" y="4663440"/>
            <a:ext cx="2487168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C9D2D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Alternativas cloud reducen lock-in; continúan dependencias de continuidad y laboratorios.</a:t>
            </a:r>
            <a:endParaRPr lang="en-US" sz="970" dirty="0"/>
          </a:p>
        </p:txBody>
      </p:sp>
      <p:sp>
        <p:nvSpPr>
          <p:cNvPr id="38" name="Shape 33"/>
          <p:cNvSpPr/>
          <p:nvPr/>
        </p:nvSpPr>
        <p:spPr>
          <a:xfrm>
            <a:off x="5897880" y="4160520"/>
            <a:ext cx="2743200" cy="1261872"/>
          </a:xfrm>
          <a:prstGeom prst="roundRect">
            <a:avLst>
              <a:gd name="adj" fmla="val 5072"/>
            </a:avLst>
          </a:prstGeom>
          <a:solidFill>
            <a:srgbClr val="111722"/>
          </a:solidFill>
          <a:ln w="13970">
            <a:solidFill>
              <a:srgbClr val="7B61FF">
                <a:alpha val="75000"/>
              </a:srgbClr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25896" y="4288536"/>
            <a:ext cx="256032" cy="256032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355080" y="42702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Clientes</a:t>
            </a:r>
            <a:endParaRPr lang="en-US" sz="1250" dirty="0"/>
          </a:p>
        </p:txBody>
      </p:sp>
      <p:sp>
        <p:nvSpPr>
          <p:cNvPr id="41" name="Shape 35"/>
          <p:cNvSpPr/>
          <p:nvPr/>
        </p:nvSpPr>
        <p:spPr>
          <a:xfrm>
            <a:off x="8074152" y="4270248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7B61FF">
              <a:alpha val="92000"/>
            </a:srgbClr>
          </a:solidFill>
          <a:ln w="10160">
            <a:solidFill>
              <a:srgbClr val="7B61FF">
                <a:alpha val="90000"/>
              </a:srgbClr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8110728" y="4297680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ALTA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6025896" y="4663440"/>
            <a:ext cx="2487168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C9D2D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Empresas B2B comparan ofertas y exigen resultados, trazabilidad y tiempos de respuesta.</a:t>
            </a:r>
            <a:endParaRPr lang="en-US" sz="970" dirty="0"/>
          </a:p>
        </p:txBody>
      </p:sp>
      <p:sp>
        <p:nvSpPr>
          <p:cNvPr id="44" name="Shape 38"/>
          <p:cNvSpPr/>
          <p:nvPr/>
        </p:nvSpPr>
        <p:spPr>
          <a:xfrm>
            <a:off x="3182112" y="5230368"/>
            <a:ext cx="2816352" cy="987552"/>
          </a:xfrm>
          <a:prstGeom prst="roundRect">
            <a:avLst>
              <a:gd name="adj" fmla="val 6481"/>
            </a:avLst>
          </a:prstGeom>
          <a:solidFill>
            <a:srgbClr val="111722"/>
          </a:solidFill>
          <a:ln w="13970">
            <a:solidFill>
              <a:srgbClr val="27AE60">
                <a:alpha val="75000"/>
              </a:srgbClr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10128" y="5358384"/>
            <a:ext cx="256032" cy="256032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3639312" y="5340096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Sustitutos</a:t>
            </a:r>
            <a:endParaRPr lang="en-US" sz="1250" dirty="0"/>
          </a:p>
        </p:txBody>
      </p:sp>
      <p:sp>
        <p:nvSpPr>
          <p:cNvPr id="47" name="Shape 40"/>
          <p:cNvSpPr/>
          <p:nvPr/>
        </p:nvSpPr>
        <p:spPr>
          <a:xfrm>
            <a:off x="5431536" y="534009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27AE60">
              <a:alpha val="92000"/>
            </a:srgbClr>
          </a:solidFill>
          <a:ln w="10160">
            <a:solidFill>
              <a:srgbClr val="27AE60">
                <a:alpha val="90000"/>
              </a:srgbClr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5468112" y="5367528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MEDIA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3310128" y="5733288"/>
            <a:ext cx="256032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C9D2D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Planillas, papel o software aislado pueden persistir por costo o hábito.</a:t>
            </a:r>
            <a:endParaRPr lang="en-US" sz="970" dirty="0"/>
          </a:p>
        </p:txBody>
      </p:sp>
      <p:sp>
        <p:nvSpPr>
          <p:cNvPr id="50" name="Text 43"/>
          <p:cNvSpPr/>
          <p:nvPr/>
        </p:nvSpPr>
        <p:spPr>
          <a:xfrm>
            <a:off x="3703320" y="385876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Lectura clave</a:t>
            </a:r>
            <a:endParaRPr lang="en-US" sz="1000" dirty="0"/>
          </a:p>
        </p:txBody>
      </p:sp>
      <p:sp>
        <p:nvSpPr>
          <p:cNvPr id="51" name="Text 44"/>
          <p:cNvSpPr/>
          <p:nvPr/>
        </p:nvSpPr>
        <p:spPr>
          <a:xfrm>
            <a:off x="3246120" y="4059936"/>
            <a:ext cx="2633472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 ventaja buscada no es “tener software”, sino integrar Clínica, Óptica y CRM sobre una identidad y trazabilidad comunes.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A8A"/>
                </a:solidFill>
                <a:latin typeface="Roboto Condensed"/>
                <a:ea typeface="Roboto Condensed"/>
                <a:cs typeface="Roboto Condense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0" y="0"/>
            <a:ext cx="274320" cy="32004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320040"/>
            <a:ext cx="82296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32004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73152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457200"/>
            <a:ext cx="91440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457200"/>
            <a:ext cx="274320" cy="41148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8229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0"/>
            <a:ext cx="320040" cy="27432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274320"/>
            <a:ext cx="64008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274320"/>
            <a:ext cx="228600" cy="36576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5943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4739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38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CAPSTONE · CSA PLATFORM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4754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FACTIBILIDAD DEL MVP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30352" y="987552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 propuesta es viable si se mantiene el alcance y se prioriza el uso responsable de recursos.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1344168"/>
            <a:ext cx="91440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1664208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111722"/>
          </a:solidFill>
          <a:ln w="13970">
            <a:solidFill>
              <a:srgbClr val="2F80ED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" y="181051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2F80ED">
                <a:alpha val="85000"/>
              </a:srgbClr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920240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80160" y="1810512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Técnica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31520" y="2377440"/>
            <a:ext cx="34655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Stack conocido y arquitectura de baja complejidad operacional.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681728" y="1664208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111722"/>
          </a:solidFill>
          <a:ln w="13970">
            <a:solidFill>
              <a:srgbClr val="F2994A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28032" y="181051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F2994A">
                <a:alpha val="85000"/>
              </a:srgbClr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7760" y="1920240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94960" y="1810512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Temporal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4846320" y="2377440"/>
            <a:ext cx="34655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8 Sprints con P0 primero y P1 según capacidad.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66928" y="3081528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111722"/>
          </a:solidFill>
          <a:ln w="13970">
            <a:solidFill>
              <a:srgbClr val="7B61FF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713232" y="322783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7B61FF">
                <a:alpha val="85000"/>
              </a:srgbClr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337560"/>
            <a:ext cx="256032" cy="25603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280160" y="3227832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Organizacional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731520" y="3794760"/>
            <a:ext cx="34655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 estudiantes con distribución funcional por módulos.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4681728" y="3081528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111722"/>
          </a:solidFill>
          <a:ln w="13970">
            <a:solidFill>
              <a:srgbClr val="27AE60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828032" y="322783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27AE60">
                <a:alpha val="85000"/>
              </a:srgbClr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37760" y="3337560"/>
            <a:ext cx="256032" cy="25603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394960" y="3227832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Recursos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4846320" y="3794760"/>
            <a:ext cx="34655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Tecnologías abiertas + servicios pagados cuando sean necesarios.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594360" y="4709160"/>
            <a:ext cx="2743200" cy="1115568"/>
          </a:xfrm>
          <a:prstGeom prst="roundRect">
            <a:avLst>
              <a:gd name="adj" fmla="val 8197"/>
            </a:avLst>
          </a:prstGeom>
          <a:solidFill>
            <a:srgbClr val="0A1610"/>
          </a:solidFill>
          <a:ln w="17780">
            <a:solidFill>
              <a:srgbClr val="27AE60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841248" y="491947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7AE6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$500.000 CLP</a:t>
            </a:r>
            <a:endParaRPr lang="en-US" sz="2500" dirty="0"/>
          </a:p>
        </p:txBody>
      </p:sp>
      <p:sp>
        <p:nvSpPr>
          <p:cNvPr id="40" name="Text 34"/>
          <p:cNvSpPr/>
          <p:nvPr/>
        </p:nvSpPr>
        <p:spPr>
          <a:xfrm>
            <a:off x="914400" y="5367528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presupuesto inicial aproximado</a:t>
            </a:r>
            <a:endParaRPr lang="en-US" sz="1020" dirty="0"/>
          </a:p>
        </p:txBody>
      </p:sp>
      <p:sp>
        <p:nvSpPr>
          <p:cNvPr id="41" name="Shape 35"/>
          <p:cNvSpPr/>
          <p:nvPr/>
        </p:nvSpPr>
        <p:spPr>
          <a:xfrm>
            <a:off x="3657600" y="4709160"/>
            <a:ext cx="4800600" cy="1115568"/>
          </a:xfrm>
          <a:prstGeom prst="roundRect">
            <a:avLst>
              <a:gd name="adj" fmla="val 8197"/>
            </a:avLst>
          </a:prstGeom>
          <a:solidFill>
            <a:srgbClr val="10151D"/>
          </a:solidFill>
          <a:ln w="12700">
            <a:solidFill>
              <a:srgbClr val="2A394B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3886200" y="4882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USO PRIORITARIO DEL PRESUPUESTO</a:t>
            </a:r>
            <a:endParaRPr lang="en-US" sz="1120" dirty="0"/>
          </a:p>
        </p:txBody>
      </p:sp>
      <p:sp>
        <p:nvSpPr>
          <p:cNvPr id="43" name="Text 37"/>
          <p:cNvSpPr/>
          <p:nvPr/>
        </p:nvSpPr>
        <p:spPr>
          <a:xfrm>
            <a:off x="3886200" y="5248656"/>
            <a:ext cx="425196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Infraestructura cloud · almacenamiento · dominio/certificados · respaldos · servicios administrados indispensables</a:t>
            </a:r>
            <a:endParaRPr lang="en-US" sz="1130" dirty="0"/>
          </a:p>
        </p:txBody>
      </p:sp>
      <p:sp>
        <p:nvSpPr>
          <p:cNvPr id="44" name="Text 38"/>
          <p:cNvSpPr/>
          <p:nvPr/>
        </p:nvSpPr>
        <p:spPr>
          <a:xfrm>
            <a:off x="777240" y="605332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B575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No destinar recursos a IA, automatizaciones avanzadas o integraciones de Fase 2/3 dentro del Capstone.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A8A"/>
                </a:solidFill>
                <a:latin typeface="Roboto Condensed"/>
                <a:ea typeface="Roboto Condensed"/>
                <a:cs typeface="Roboto Condense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0" y="0"/>
            <a:ext cx="274320" cy="32004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320040"/>
            <a:ext cx="82296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32004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73152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457200"/>
            <a:ext cx="91440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457200"/>
            <a:ext cx="274320" cy="41148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8229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0"/>
            <a:ext cx="320040" cy="27432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274320"/>
            <a:ext cx="64008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274320"/>
            <a:ext cx="228600" cy="36576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5943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4739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38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CAPSTONE · CSA PLATFORM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4754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ARQUITECTURA SELECCIONADA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30352" y="987552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Arquitectura Monolítica Modular + API REST + patrón interno por capas.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1344168"/>
            <a:ext cx="91440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1627632"/>
            <a:ext cx="3794760" cy="4480560"/>
          </a:xfrm>
          <a:prstGeom prst="roundRect">
            <a:avLst>
              <a:gd name="adj" fmla="val 2410"/>
            </a:avLst>
          </a:prstGeom>
          <a:solidFill>
            <a:srgbClr val="0B111A"/>
          </a:solidFill>
          <a:ln w="16510">
            <a:solidFill>
              <a:srgbClr val="7B61FF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892808"/>
            <a:ext cx="411480" cy="4114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7160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Arquitectura Monolítica Modular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804672" y="2395728"/>
            <a:ext cx="32461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 solo despliegue backend, con dominios internos separados y reglas de negocio propias.</a:t>
            </a:r>
            <a:endParaRPr lang="en-US" sz="1230" dirty="0"/>
          </a:p>
        </p:txBody>
      </p:sp>
      <p:sp>
        <p:nvSpPr>
          <p:cNvPr id="22" name="Text 19"/>
          <p:cNvSpPr/>
          <p:nvPr/>
        </p:nvSpPr>
        <p:spPr>
          <a:xfrm>
            <a:off x="822960" y="3154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4B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Capas internas por módulo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969264" y="3593592"/>
            <a:ext cx="658368" cy="530352"/>
          </a:xfrm>
          <a:prstGeom prst="roundRect">
            <a:avLst>
              <a:gd name="adj" fmla="val 8621"/>
            </a:avLst>
          </a:prstGeom>
          <a:solidFill>
            <a:srgbClr val="111C2A"/>
          </a:solidFill>
          <a:ln w="10160">
            <a:solidFill>
              <a:srgbClr val="2EC4B6">
                <a:alpha val="7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5840" y="3758184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Controller</a:t>
            </a:r>
            <a:endParaRPr lang="en-US" sz="820" dirty="0"/>
          </a:p>
        </p:txBody>
      </p:sp>
      <p:sp>
        <p:nvSpPr>
          <p:cNvPr id="25" name="Shape 22"/>
          <p:cNvSpPr/>
          <p:nvPr/>
        </p:nvSpPr>
        <p:spPr>
          <a:xfrm>
            <a:off x="1636776" y="3730752"/>
            <a:ext cx="219456" cy="256032"/>
          </a:xfrm>
          <a:prstGeom prst="chevron">
            <a:avLst/>
          </a:prstGeom>
          <a:solidFill>
            <a:srgbClr val="2EC4B6">
              <a:alpha val="85000"/>
            </a:srgbClr>
          </a:solidFill>
          <a:ln w="12700">
            <a:solidFill>
              <a:srgbClr val="2EC4B6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737360" y="3593592"/>
            <a:ext cx="658368" cy="530352"/>
          </a:xfrm>
          <a:prstGeom prst="roundRect">
            <a:avLst>
              <a:gd name="adj" fmla="val 8621"/>
            </a:avLst>
          </a:prstGeom>
          <a:solidFill>
            <a:srgbClr val="111C2A"/>
          </a:solidFill>
          <a:ln w="10160">
            <a:solidFill>
              <a:srgbClr val="2EC4B6">
                <a:alpha val="7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773936" y="3758184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Service</a:t>
            </a:r>
            <a:endParaRPr lang="en-US" sz="820" dirty="0"/>
          </a:p>
        </p:txBody>
      </p:sp>
      <p:sp>
        <p:nvSpPr>
          <p:cNvPr id="28" name="Shape 25"/>
          <p:cNvSpPr/>
          <p:nvPr/>
        </p:nvSpPr>
        <p:spPr>
          <a:xfrm>
            <a:off x="2404872" y="3730752"/>
            <a:ext cx="219456" cy="256032"/>
          </a:xfrm>
          <a:prstGeom prst="chevron">
            <a:avLst/>
          </a:prstGeom>
          <a:solidFill>
            <a:srgbClr val="2EC4B6">
              <a:alpha val="85000"/>
            </a:srgbClr>
          </a:solidFill>
          <a:ln w="12700">
            <a:solidFill>
              <a:srgbClr val="2EC4B6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505456" y="3593592"/>
            <a:ext cx="658368" cy="530352"/>
          </a:xfrm>
          <a:prstGeom prst="roundRect">
            <a:avLst>
              <a:gd name="adj" fmla="val 8621"/>
            </a:avLst>
          </a:prstGeom>
          <a:solidFill>
            <a:srgbClr val="111C2A"/>
          </a:solidFill>
          <a:ln w="10160">
            <a:solidFill>
              <a:srgbClr val="2EC4B6">
                <a:alpha val="75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542032" y="3758184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Domain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3172968" y="3730752"/>
            <a:ext cx="219456" cy="256032"/>
          </a:xfrm>
          <a:prstGeom prst="chevron">
            <a:avLst/>
          </a:prstGeom>
          <a:solidFill>
            <a:srgbClr val="2EC4B6">
              <a:alpha val="85000"/>
            </a:srgbClr>
          </a:solidFill>
          <a:ln w="12700">
            <a:solidFill>
              <a:srgbClr val="2EC4B6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73552" y="3593592"/>
            <a:ext cx="658368" cy="530352"/>
          </a:xfrm>
          <a:prstGeom prst="roundRect">
            <a:avLst>
              <a:gd name="adj" fmla="val 8621"/>
            </a:avLst>
          </a:prstGeom>
          <a:solidFill>
            <a:srgbClr val="111C2A"/>
          </a:solidFill>
          <a:ln w="10160">
            <a:solidFill>
              <a:srgbClr val="2EC4B6">
                <a:alpha val="7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10128" y="3758184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Repository</a:t>
            </a:r>
            <a:endParaRPr lang="en-US" sz="820" dirty="0"/>
          </a:p>
        </p:txBody>
      </p:sp>
      <p:sp>
        <p:nvSpPr>
          <p:cNvPr id="34" name="Text 31"/>
          <p:cNvSpPr/>
          <p:nvPr/>
        </p:nvSpPr>
        <p:spPr>
          <a:xfrm>
            <a:off x="822960" y="4453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61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Por qué encaja con el MVP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877824" y="4800600"/>
            <a:ext cx="297180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• Reduce complejidad de operación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• Mantiene separación por dominio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• Facilita pruebas y mantenimiento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• Permite evolucionar si el crecimiento lo justifica</a:t>
            </a:r>
            <a:endParaRPr lang="en-US" sz="1070" dirty="0"/>
          </a:p>
        </p:txBody>
      </p:sp>
      <p:sp>
        <p:nvSpPr>
          <p:cNvPr id="36" name="Text 33"/>
          <p:cNvSpPr/>
          <p:nvPr/>
        </p:nvSpPr>
        <p:spPr>
          <a:xfrm>
            <a:off x="4709160" y="17556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Alternativas evaluadas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4617720" y="2258568"/>
            <a:ext cx="3886200" cy="566928"/>
          </a:xfrm>
          <a:prstGeom prst="roundRect">
            <a:avLst>
              <a:gd name="adj" fmla="val 8065"/>
            </a:avLst>
          </a:prstGeom>
          <a:solidFill>
            <a:srgbClr val="0E141C"/>
          </a:solidFill>
          <a:ln w="8890">
            <a:solidFill>
              <a:srgbClr val="EB5757">
                <a:alpha val="45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800600" y="23682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Monolítica tradicional</a:t>
            </a:r>
            <a:endParaRPr lang="en-US" sz="1040" dirty="0"/>
          </a:p>
        </p:txBody>
      </p:sp>
      <p:sp>
        <p:nvSpPr>
          <p:cNvPr id="39" name="Text 36"/>
          <p:cNvSpPr/>
          <p:nvPr/>
        </p:nvSpPr>
        <p:spPr>
          <a:xfrm>
            <a:off x="6281928" y="235915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B575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Descartada</a:t>
            </a:r>
            <a:endParaRPr lang="en-US" sz="940" dirty="0"/>
          </a:p>
        </p:txBody>
      </p:sp>
      <p:sp>
        <p:nvSpPr>
          <p:cNvPr id="40" name="Text 37"/>
          <p:cNvSpPr/>
          <p:nvPr/>
        </p:nvSpPr>
        <p:spPr>
          <a:xfrm>
            <a:off x="7187184" y="23500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Acoplamiento interno alto</a:t>
            </a:r>
            <a:endParaRPr lang="en-US" sz="890" dirty="0"/>
          </a:p>
        </p:txBody>
      </p:sp>
      <p:sp>
        <p:nvSpPr>
          <p:cNvPr id="41" name="Shape 38"/>
          <p:cNvSpPr/>
          <p:nvPr/>
        </p:nvSpPr>
        <p:spPr>
          <a:xfrm>
            <a:off x="4617720" y="2971800"/>
            <a:ext cx="3886200" cy="566928"/>
          </a:xfrm>
          <a:prstGeom prst="roundRect">
            <a:avLst>
              <a:gd name="adj" fmla="val 8065"/>
            </a:avLst>
          </a:prstGeom>
          <a:solidFill>
            <a:srgbClr val="0E141C"/>
          </a:solidFill>
          <a:ln w="8890">
            <a:solidFill>
              <a:srgbClr val="EB5757">
                <a:alpha val="45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00600" y="30815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Microservicios</a:t>
            </a:r>
            <a:endParaRPr lang="en-US" sz="1040" dirty="0"/>
          </a:p>
        </p:txBody>
      </p:sp>
      <p:sp>
        <p:nvSpPr>
          <p:cNvPr id="43" name="Text 40"/>
          <p:cNvSpPr/>
          <p:nvPr/>
        </p:nvSpPr>
        <p:spPr>
          <a:xfrm>
            <a:off x="6281928" y="307238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B575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Descartada</a:t>
            </a:r>
            <a:endParaRPr lang="en-US" sz="940" dirty="0"/>
          </a:p>
        </p:txBody>
      </p:sp>
      <p:sp>
        <p:nvSpPr>
          <p:cNvPr id="44" name="Text 41"/>
          <p:cNvSpPr/>
          <p:nvPr/>
        </p:nvSpPr>
        <p:spPr>
          <a:xfrm>
            <a:off x="7187184" y="3063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Complejidad excesiva para el equipo</a:t>
            </a:r>
            <a:endParaRPr lang="en-US" sz="890" dirty="0"/>
          </a:p>
        </p:txBody>
      </p:sp>
      <p:sp>
        <p:nvSpPr>
          <p:cNvPr id="45" name="Shape 42"/>
          <p:cNvSpPr/>
          <p:nvPr/>
        </p:nvSpPr>
        <p:spPr>
          <a:xfrm>
            <a:off x="4617720" y="3685032"/>
            <a:ext cx="3886200" cy="566928"/>
          </a:xfrm>
          <a:prstGeom prst="roundRect">
            <a:avLst>
              <a:gd name="adj" fmla="val 8065"/>
            </a:avLst>
          </a:prstGeom>
          <a:solidFill>
            <a:srgbClr val="0E141C"/>
          </a:solidFill>
          <a:ln w="8890">
            <a:solidFill>
              <a:srgbClr val="2EC4B6">
                <a:alpha val="45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800600" y="37947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N-tier</a:t>
            </a:r>
            <a:endParaRPr lang="en-US" sz="1040" dirty="0"/>
          </a:p>
        </p:txBody>
      </p:sp>
      <p:sp>
        <p:nvSpPr>
          <p:cNvPr id="47" name="Text 44"/>
          <p:cNvSpPr/>
          <p:nvPr/>
        </p:nvSpPr>
        <p:spPr>
          <a:xfrm>
            <a:off x="6281928" y="378561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EC4B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Patrón interno</a:t>
            </a:r>
            <a:endParaRPr lang="en-US" sz="940" dirty="0"/>
          </a:p>
        </p:txBody>
      </p:sp>
      <p:sp>
        <p:nvSpPr>
          <p:cNvPr id="48" name="Text 45"/>
          <p:cNvSpPr/>
          <p:nvPr/>
        </p:nvSpPr>
        <p:spPr>
          <a:xfrm>
            <a:off x="7187184" y="37764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Útil para separar responsabilidades</a:t>
            </a:r>
            <a:endParaRPr lang="en-US" sz="890" dirty="0"/>
          </a:p>
        </p:txBody>
      </p:sp>
      <p:sp>
        <p:nvSpPr>
          <p:cNvPr id="49" name="Shape 46"/>
          <p:cNvSpPr/>
          <p:nvPr/>
        </p:nvSpPr>
        <p:spPr>
          <a:xfrm>
            <a:off x="4617720" y="4398264"/>
            <a:ext cx="3886200" cy="566928"/>
          </a:xfrm>
          <a:prstGeom prst="roundRect">
            <a:avLst>
              <a:gd name="adj" fmla="val 8065"/>
            </a:avLst>
          </a:prstGeom>
          <a:solidFill>
            <a:srgbClr val="0E141C"/>
          </a:solidFill>
          <a:ln w="8890">
            <a:solidFill>
              <a:srgbClr val="EB5757">
                <a:alpha val="4500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800600" y="45079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SOA</a:t>
            </a:r>
            <a:endParaRPr lang="en-US" sz="1040" dirty="0"/>
          </a:p>
        </p:txBody>
      </p:sp>
      <p:sp>
        <p:nvSpPr>
          <p:cNvPr id="51" name="Text 48"/>
          <p:cNvSpPr/>
          <p:nvPr/>
        </p:nvSpPr>
        <p:spPr>
          <a:xfrm>
            <a:off x="6281928" y="449884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B575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Descartada</a:t>
            </a:r>
            <a:endParaRPr lang="en-US" sz="940" dirty="0"/>
          </a:p>
        </p:txBody>
      </p:sp>
      <p:sp>
        <p:nvSpPr>
          <p:cNvPr id="52" name="Text 49"/>
          <p:cNvSpPr/>
          <p:nvPr/>
        </p:nvSpPr>
        <p:spPr>
          <a:xfrm>
            <a:off x="7187184" y="44897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No existe necesidad de bus de servicios</a:t>
            </a:r>
            <a:endParaRPr lang="en-US" sz="890" dirty="0"/>
          </a:p>
        </p:txBody>
      </p:sp>
      <p:sp>
        <p:nvSpPr>
          <p:cNvPr id="53" name="Shape 50"/>
          <p:cNvSpPr/>
          <p:nvPr/>
        </p:nvSpPr>
        <p:spPr>
          <a:xfrm>
            <a:off x="4617720" y="5111496"/>
            <a:ext cx="3886200" cy="566928"/>
          </a:xfrm>
          <a:prstGeom prst="roundRect">
            <a:avLst>
              <a:gd name="adj" fmla="val 8065"/>
            </a:avLst>
          </a:prstGeom>
          <a:solidFill>
            <a:srgbClr val="0C1A12"/>
          </a:solidFill>
          <a:ln w="15240">
            <a:solidFill>
              <a:srgbClr val="27AE60">
                <a:alpha val="9000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800600" y="522122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Monolítica Modular</a:t>
            </a:r>
            <a:endParaRPr lang="en-US" sz="1040" dirty="0"/>
          </a:p>
        </p:txBody>
      </p:sp>
      <p:sp>
        <p:nvSpPr>
          <p:cNvPr id="55" name="Text 52"/>
          <p:cNvSpPr/>
          <p:nvPr/>
        </p:nvSpPr>
        <p:spPr>
          <a:xfrm>
            <a:off x="6281928" y="52120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7AE6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Seleccionada</a:t>
            </a:r>
            <a:endParaRPr lang="en-US" sz="940" dirty="0"/>
          </a:p>
        </p:txBody>
      </p:sp>
      <p:sp>
        <p:nvSpPr>
          <p:cNvPr id="56" name="Text 53"/>
          <p:cNvSpPr/>
          <p:nvPr/>
        </p:nvSpPr>
        <p:spPr>
          <a:xfrm>
            <a:off x="7187184" y="5202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Balance entre orden, costo y evolución</a:t>
            </a:r>
            <a:endParaRPr lang="en-US" sz="8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A8A"/>
                </a:solidFill>
                <a:latin typeface="Roboto Condensed"/>
                <a:ea typeface="Roboto Condensed"/>
                <a:cs typeface="Roboto Condense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0" y="0"/>
            <a:ext cx="274320" cy="32004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320040"/>
            <a:ext cx="82296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32004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73152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457200"/>
            <a:ext cx="91440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457200"/>
            <a:ext cx="274320" cy="41148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8229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0"/>
            <a:ext cx="320040" cy="27432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274320"/>
            <a:ext cx="64008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274320"/>
            <a:ext cx="228600" cy="36576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5943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4739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38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CAPSTONE · CSA PLATFORM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4754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ARQUITECTURA FÍSICA DEL MVP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30352" y="987552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Vista independiente del proveedor cloud: la infraestructura final se acuerda con CSA.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1344168"/>
            <a:ext cx="91440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73552" y="1572768"/>
            <a:ext cx="2606040" cy="612648"/>
          </a:xfrm>
          <a:prstGeom prst="roundRect">
            <a:avLst>
              <a:gd name="adj" fmla="val 10448"/>
            </a:avLst>
          </a:prstGeom>
          <a:solidFill>
            <a:srgbClr val="0F1B26"/>
          </a:solidFill>
          <a:ln w="15240">
            <a:solidFill>
              <a:srgbClr val="2EC4B6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93008" y="1755648"/>
            <a:ext cx="237744" cy="23774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822192" y="175564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Usuarios · navegador PC / tablet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4572000" y="2185416"/>
            <a:ext cx="0" cy="420624"/>
          </a:xfrm>
          <a:prstGeom prst="line">
            <a:avLst/>
          </a:prstGeom>
          <a:noFill/>
          <a:ln w="16510">
            <a:solidFill>
              <a:srgbClr val="7A8796"/>
            </a:solidFill>
            <a:prstDash val="solid"/>
            <a:headEnd type="none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4645152" y="23317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HTTPS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926080" y="2596896"/>
            <a:ext cx="3291840" cy="731520"/>
          </a:xfrm>
          <a:prstGeom prst="roundRect">
            <a:avLst>
              <a:gd name="adj" fmla="val 8750"/>
            </a:avLst>
          </a:prstGeom>
          <a:solidFill>
            <a:srgbClr val="0E1722"/>
          </a:solidFill>
          <a:ln w="15240">
            <a:solidFill>
              <a:srgbClr val="2F80ED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82112" y="2816352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566160" y="281635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Frontend SPA · Angular + TypeScript</a:t>
            </a:r>
            <a:endParaRPr lang="en-US" sz="1240" dirty="0"/>
          </a:p>
        </p:txBody>
      </p:sp>
      <p:sp>
        <p:nvSpPr>
          <p:cNvPr id="26" name="Shape 22"/>
          <p:cNvSpPr/>
          <p:nvPr/>
        </p:nvSpPr>
        <p:spPr>
          <a:xfrm>
            <a:off x="4572000" y="3328416"/>
            <a:ext cx="0" cy="411480"/>
          </a:xfrm>
          <a:prstGeom prst="line">
            <a:avLst/>
          </a:prstGeom>
          <a:noFill/>
          <a:ln w="16510">
            <a:solidFill>
              <a:srgbClr val="7A8796"/>
            </a:solidFill>
            <a:prstDash val="solid"/>
            <a:tailEnd type="triangle"/>
          </a:ln>
        </p:spPr>
      </p:sp>
      <p:sp>
        <p:nvSpPr>
          <p:cNvPr id="27" name="Text 23"/>
          <p:cNvSpPr/>
          <p:nvPr/>
        </p:nvSpPr>
        <p:spPr>
          <a:xfrm>
            <a:off x="4645152" y="34930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API REST / JSON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1280160" y="3730752"/>
            <a:ext cx="6583680" cy="1371600"/>
          </a:xfrm>
          <a:prstGeom prst="roundRect">
            <a:avLst>
              <a:gd name="adj" fmla="val 5333"/>
            </a:avLst>
          </a:prstGeom>
          <a:solidFill>
            <a:srgbClr val="120E1D"/>
          </a:solidFill>
          <a:ln w="17780">
            <a:solidFill>
              <a:srgbClr val="7B61F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011680" y="39136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Backend / API · Django + Django REST Framework</a:t>
            </a:r>
            <a:endParaRPr lang="en-US" sz="1450" dirty="0"/>
          </a:p>
        </p:txBody>
      </p:sp>
      <p:sp>
        <p:nvSpPr>
          <p:cNvPr id="30" name="Text 26"/>
          <p:cNvSpPr/>
          <p:nvPr/>
        </p:nvSpPr>
        <p:spPr>
          <a:xfrm>
            <a:off x="3310128" y="42245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7B61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Arquitectura Monolítica Modular</a:t>
            </a:r>
            <a:endParaRPr lang="en-US" sz="1030" dirty="0"/>
          </a:p>
        </p:txBody>
      </p:sp>
      <p:sp>
        <p:nvSpPr>
          <p:cNvPr id="31" name="Shape 27"/>
          <p:cNvSpPr/>
          <p:nvPr/>
        </p:nvSpPr>
        <p:spPr>
          <a:xfrm>
            <a:off x="1600200" y="4608576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171621"/>
          </a:solidFill>
          <a:ln w="10160">
            <a:solidFill>
              <a:srgbClr val="2EC4B6">
                <a:alpha val="70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673352" y="470001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Core CSA</a:t>
            </a:r>
            <a:endParaRPr lang="en-US" sz="870" dirty="0"/>
          </a:p>
        </p:txBody>
      </p:sp>
      <p:sp>
        <p:nvSpPr>
          <p:cNvPr id="33" name="Shape 29"/>
          <p:cNvSpPr/>
          <p:nvPr/>
        </p:nvSpPr>
        <p:spPr>
          <a:xfrm>
            <a:off x="3108960" y="4608576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171621"/>
          </a:solidFill>
          <a:ln w="10160">
            <a:solidFill>
              <a:srgbClr val="EB5757">
                <a:alpha val="7000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182112" y="470001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Clínico</a:t>
            </a:r>
            <a:endParaRPr lang="en-US" sz="870" dirty="0"/>
          </a:p>
        </p:txBody>
      </p:sp>
      <p:sp>
        <p:nvSpPr>
          <p:cNvPr id="35" name="Shape 31"/>
          <p:cNvSpPr/>
          <p:nvPr/>
        </p:nvSpPr>
        <p:spPr>
          <a:xfrm>
            <a:off x="4617720" y="4608576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171621"/>
          </a:solidFill>
          <a:ln w="10160">
            <a:solidFill>
              <a:srgbClr val="2F80ED">
                <a:alpha val="7000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690872" y="470001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Óptica</a:t>
            </a:r>
            <a:endParaRPr lang="en-US" sz="870" dirty="0"/>
          </a:p>
        </p:txBody>
      </p:sp>
      <p:sp>
        <p:nvSpPr>
          <p:cNvPr id="37" name="Shape 33"/>
          <p:cNvSpPr/>
          <p:nvPr/>
        </p:nvSpPr>
        <p:spPr>
          <a:xfrm>
            <a:off x="6126480" y="4608576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171621"/>
          </a:solidFill>
          <a:ln w="10160">
            <a:solidFill>
              <a:srgbClr val="7B61FF">
                <a:alpha val="7000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199632" y="470001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CRM básico</a:t>
            </a:r>
            <a:endParaRPr lang="en-US" sz="870" dirty="0"/>
          </a:p>
        </p:txBody>
      </p:sp>
      <p:sp>
        <p:nvSpPr>
          <p:cNvPr id="39" name="Shape 35"/>
          <p:cNvSpPr/>
          <p:nvPr/>
        </p:nvSpPr>
        <p:spPr>
          <a:xfrm>
            <a:off x="3383280" y="5102352"/>
            <a:ext cx="-502920" cy="411480"/>
          </a:xfrm>
          <a:prstGeom prst="line">
            <a:avLst/>
          </a:prstGeom>
          <a:noFill/>
          <a:ln w="15240">
            <a:solidFill>
              <a:srgbClr val="7A8796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>
            <a:off x="5806440" y="5102352"/>
            <a:ext cx="502920" cy="411480"/>
          </a:xfrm>
          <a:prstGeom prst="line">
            <a:avLst/>
          </a:prstGeom>
          <a:noFill/>
          <a:ln w="15240">
            <a:solidFill>
              <a:srgbClr val="7A8796"/>
            </a:solidFill>
            <a:prstDash val="solid"/>
            <a:tailEnd type="triangle"/>
          </a:ln>
        </p:spPr>
      </p:sp>
      <p:sp>
        <p:nvSpPr>
          <p:cNvPr id="41" name="Shape 37"/>
          <p:cNvSpPr/>
          <p:nvPr/>
        </p:nvSpPr>
        <p:spPr>
          <a:xfrm>
            <a:off x="1691640" y="5486400"/>
            <a:ext cx="2377440" cy="685800"/>
          </a:xfrm>
          <a:prstGeom prst="roundRect">
            <a:avLst>
              <a:gd name="adj" fmla="val 9333"/>
            </a:avLst>
          </a:prstGeom>
          <a:solidFill>
            <a:srgbClr val="0D1620"/>
          </a:solidFill>
          <a:ln w="12700">
            <a:solidFill>
              <a:srgbClr val="2F80ED"/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20240" y="5687568"/>
            <a:ext cx="256032" cy="256032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2304288" y="56235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MySQL / InnoDB</a:t>
            </a:r>
            <a:endParaRPr lang="en-US" sz="1150" dirty="0"/>
          </a:p>
        </p:txBody>
      </p:sp>
      <p:sp>
        <p:nvSpPr>
          <p:cNvPr id="44" name="Text 39"/>
          <p:cNvSpPr/>
          <p:nvPr/>
        </p:nvSpPr>
        <p:spPr>
          <a:xfrm>
            <a:off x="2304288" y="585216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datos estructurados</a:t>
            </a:r>
            <a:endParaRPr lang="en-US" sz="880" dirty="0"/>
          </a:p>
        </p:txBody>
      </p:sp>
      <p:sp>
        <p:nvSpPr>
          <p:cNvPr id="45" name="Shape 40"/>
          <p:cNvSpPr/>
          <p:nvPr/>
        </p:nvSpPr>
        <p:spPr>
          <a:xfrm>
            <a:off x="5074920" y="5486400"/>
            <a:ext cx="2377440" cy="685800"/>
          </a:xfrm>
          <a:prstGeom prst="roundRect">
            <a:avLst>
              <a:gd name="adj" fmla="val 9333"/>
            </a:avLst>
          </a:prstGeom>
          <a:solidFill>
            <a:srgbClr val="0D1620"/>
          </a:solidFill>
          <a:ln w="12700">
            <a:solidFill>
              <a:srgbClr val="F2C94C"/>
            </a:solidFill>
            <a:prstDash val="solid"/>
          </a:ln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03520" y="5687568"/>
            <a:ext cx="256032" cy="256032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5650992" y="56235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Object Storage</a:t>
            </a:r>
            <a:endParaRPr lang="en-US" sz="1150" dirty="0"/>
          </a:p>
        </p:txBody>
      </p:sp>
      <p:sp>
        <p:nvSpPr>
          <p:cNvPr id="48" name="Text 42"/>
          <p:cNvSpPr/>
          <p:nvPr/>
        </p:nvSpPr>
        <p:spPr>
          <a:xfrm>
            <a:off x="5650992" y="585216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PDF · imágenes · exámenes</a:t>
            </a:r>
            <a:endParaRPr lang="en-US" sz="880" dirty="0"/>
          </a:p>
        </p:txBody>
      </p:sp>
      <p:sp>
        <p:nvSpPr>
          <p:cNvPr id="49" name="Text 43"/>
          <p:cNvSpPr/>
          <p:nvPr/>
        </p:nvSpPr>
        <p:spPr>
          <a:xfrm>
            <a:off x="2011680" y="634593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2994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Proveedor cloud específico: por definir con CSA antes del despliegue.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A8A"/>
                </a:solidFill>
                <a:latin typeface="Roboto Condensed"/>
                <a:ea typeface="Roboto Condensed"/>
                <a:cs typeface="Roboto Condensed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0" y="0"/>
            <a:ext cx="274320" cy="32004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320040"/>
            <a:ext cx="82296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32004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73152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457200"/>
            <a:ext cx="91440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457200"/>
            <a:ext cx="274320" cy="41148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8229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0"/>
            <a:ext cx="320040" cy="27432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274320"/>
            <a:ext cx="64008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274320"/>
            <a:ext cx="228600" cy="36576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5943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4739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38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CAPSTONE · CSA PLATFORM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4754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TECNOLOGÍAS Y COMUNICACIÓN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30352" y="987552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Stack concentrado en el MVP; futuras integraciones quedan fuera del Capstone.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1344168"/>
            <a:ext cx="91440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1664208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111722"/>
          </a:solidFill>
          <a:ln w="13970">
            <a:solidFill>
              <a:srgbClr val="EB5757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4944" y="181051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EB5757">
                <a:alpha val="85000"/>
              </a:srgbClr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4672" y="1920240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61872" y="1810512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Angular + TypeScript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13232" y="2377440"/>
            <a:ext cx="218541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Frontend SPA responsive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337560" y="1664208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111722"/>
          </a:solidFill>
          <a:ln w="13970">
            <a:solidFill>
              <a:srgbClr val="27AE60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483864" y="181051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27AE60">
                <a:alpha val="85000"/>
              </a:srgbClr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3592" y="1920240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050792" y="1810512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Django + DRF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3502152" y="2377440"/>
            <a:ext cx="218541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Backend, API y permisos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126480" y="1664208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111722"/>
          </a:solidFill>
          <a:ln w="13970">
            <a:solidFill>
              <a:srgbClr val="2F80ED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272784" y="181051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2F80ED">
                <a:alpha val="85000"/>
              </a:srgbClr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82512" y="1920240"/>
            <a:ext cx="256032" cy="25603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839712" y="1810512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MySQL / InnoDB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6291072" y="2377440"/>
            <a:ext cx="218541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Persistencia relacional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48640" y="3081528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111722"/>
          </a:solidFill>
          <a:ln w="13970">
            <a:solidFill>
              <a:srgbClr val="F2C94C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94944" y="322783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F2C94C">
                <a:alpha val="85000"/>
              </a:srgbClr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672" y="3337560"/>
            <a:ext cx="256032" cy="25603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261872" y="3227832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Object Storage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713232" y="3794760"/>
            <a:ext cx="218541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PDF, imágenes y exámenes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3337560" y="3081528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111722"/>
          </a:solidFill>
          <a:ln w="13970">
            <a:solidFill>
              <a:srgbClr val="2EC4B6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3483864" y="322783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2EC4B6">
                <a:alpha val="85000"/>
              </a:srgbClr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93592" y="3337560"/>
            <a:ext cx="256032" cy="25603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4050792" y="3227832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Docker / Compose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3502152" y="3794760"/>
            <a:ext cx="218541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Entornos reproducibles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6126480" y="3081528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111722"/>
          </a:solidFill>
          <a:ln w="13970">
            <a:solidFill>
              <a:srgbClr val="7B61FF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6272784" y="322783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7B61FF">
                <a:alpha val="85000"/>
              </a:srgbClr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82512" y="3337560"/>
            <a:ext cx="256032" cy="256032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839712" y="3227832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Git privado CSA</a:t>
            </a:r>
            <a:endParaRPr lang="en-US" sz="1400" dirty="0"/>
          </a:p>
        </p:txBody>
      </p:sp>
      <p:sp>
        <p:nvSpPr>
          <p:cNvPr id="47" name="Text 39"/>
          <p:cNvSpPr/>
          <p:nvPr/>
        </p:nvSpPr>
        <p:spPr>
          <a:xfrm>
            <a:off x="6291072" y="3794760"/>
            <a:ext cx="218541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Ramas, commits y trazabilidad</a:t>
            </a:r>
            <a:endParaRPr lang="en-US" sz="1050" dirty="0"/>
          </a:p>
        </p:txBody>
      </p:sp>
      <p:sp>
        <p:nvSpPr>
          <p:cNvPr id="48" name="Text 40"/>
          <p:cNvSpPr/>
          <p:nvPr/>
        </p:nvSpPr>
        <p:spPr>
          <a:xfrm>
            <a:off x="594360" y="45720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COMUNICACIÓN ENTRE COMPONENTES</a:t>
            </a:r>
            <a:endParaRPr lang="en-US" sz="1300" dirty="0"/>
          </a:p>
        </p:txBody>
      </p:sp>
      <p:sp>
        <p:nvSpPr>
          <p:cNvPr id="49" name="Text 41"/>
          <p:cNvSpPr/>
          <p:nvPr/>
        </p:nvSpPr>
        <p:spPr>
          <a:xfrm>
            <a:off x="658368" y="4919472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F80E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Frontend ↔ Backend</a:t>
            </a:r>
            <a:endParaRPr lang="en-US" sz="980" dirty="0"/>
          </a:p>
        </p:txBody>
      </p:sp>
      <p:sp>
        <p:nvSpPr>
          <p:cNvPr id="50" name="Text 42"/>
          <p:cNvSpPr/>
          <p:nvPr/>
        </p:nvSpPr>
        <p:spPr>
          <a:xfrm>
            <a:off x="2395728" y="491947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0D8E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REST + JSON sobre HTTPS</a:t>
            </a:r>
            <a:endParaRPr lang="en-US" sz="980" dirty="0"/>
          </a:p>
        </p:txBody>
      </p:sp>
      <p:sp>
        <p:nvSpPr>
          <p:cNvPr id="51" name="Text 43"/>
          <p:cNvSpPr/>
          <p:nvPr/>
        </p:nvSpPr>
        <p:spPr>
          <a:xfrm>
            <a:off x="658368" y="5303520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F80E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Backend ↔ Base de datos</a:t>
            </a:r>
            <a:endParaRPr lang="en-US" sz="980" dirty="0"/>
          </a:p>
        </p:txBody>
      </p:sp>
      <p:sp>
        <p:nvSpPr>
          <p:cNvPr id="52" name="Text 44"/>
          <p:cNvSpPr/>
          <p:nvPr/>
        </p:nvSpPr>
        <p:spPr>
          <a:xfrm>
            <a:off x="2395728" y="53035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0D8E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Django ORM; acceso exclusivo desde backend</a:t>
            </a:r>
            <a:endParaRPr lang="en-US" sz="980" dirty="0"/>
          </a:p>
        </p:txBody>
      </p:sp>
      <p:sp>
        <p:nvSpPr>
          <p:cNvPr id="53" name="Text 45"/>
          <p:cNvSpPr/>
          <p:nvPr/>
        </p:nvSpPr>
        <p:spPr>
          <a:xfrm>
            <a:off x="658368" y="568756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F80E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Módulos internos</a:t>
            </a:r>
            <a:endParaRPr lang="en-US" sz="980" dirty="0"/>
          </a:p>
        </p:txBody>
      </p:sp>
      <p:sp>
        <p:nvSpPr>
          <p:cNvPr id="54" name="Text 46"/>
          <p:cNvSpPr/>
          <p:nvPr/>
        </p:nvSpPr>
        <p:spPr>
          <a:xfrm>
            <a:off x="2395728" y="56875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0D8E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Servicios internos; sin HTTP entre módulos</a:t>
            </a:r>
            <a:endParaRPr lang="en-US" sz="980" dirty="0"/>
          </a:p>
        </p:txBody>
      </p:sp>
      <p:sp>
        <p:nvSpPr>
          <p:cNvPr id="55" name="Text 47"/>
          <p:cNvSpPr/>
          <p:nvPr/>
        </p:nvSpPr>
        <p:spPr>
          <a:xfrm>
            <a:off x="658368" y="607161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F80E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API / documentación</a:t>
            </a:r>
            <a:endParaRPr lang="en-US" sz="980" dirty="0"/>
          </a:p>
        </p:txBody>
      </p:sp>
      <p:sp>
        <p:nvSpPr>
          <p:cNvPr id="56" name="Text 48"/>
          <p:cNvSpPr/>
          <p:nvPr/>
        </p:nvSpPr>
        <p:spPr>
          <a:xfrm>
            <a:off x="2395728" y="607161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0D8E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OpenAPI / Swagger</a:t>
            </a:r>
            <a:endParaRPr lang="en-US" sz="980" dirty="0"/>
          </a:p>
        </p:txBody>
      </p:sp>
      <p:sp>
        <p:nvSpPr>
          <p:cNvPr id="57" name="Shape 49"/>
          <p:cNvSpPr/>
          <p:nvPr/>
        </p:nvSpPr>
        <p:spPr>
          <a:xfrm>
            <a:off x="5715000" y="4599432"/>
            <a:ext cx="2770632" cy="1417320"/>
          </a:xfrm>
          <a:prstGeom prst="roundRect">
            <a:avLst>
              <a:gd name="adj" fmla="val 5161"/>
            </a:avLst>
          </a:prstGeom>
          <a:solidFill>
            <a:srgbClr val="0D141C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5943600" y="48097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994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DECISIONES PENDIENTES</a:t>
            </a:r>
            <a:endParaRPr lang="en-US" sz="1150" dirty="0"/>
          </a:p>
        </p:txBody>
      </p:sp>
      <p:sp>
        <p:nvSpPr>
          <p:cNvPr id="59" name="Text 51"/>
          <p:cNvSpPr/>
          <p:nvPr/>
        </p:nvSpPr>
        <p:spPr>
          <a:xfrm>
            <a:off x="6016752" y="5166360"/>
            <a:ext cx="213055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• Proveedor cloud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• Mecanismo final de autenticación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• Estrategia definitiva de almacenamiento y respaldo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A8A"/>
                </a:solidFill>
                <a:latin typeface="Roboto Condensed"/>
                <a:ea typeface="Roboto Condensed"/>
                <a:cs typeface="Roboto Condensed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0" y="0"/>
            <a:ext cx="274320" cy="32004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320040"/>
            <a:ext cx="82296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32004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73152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457200"/>
            <a:ext cx="91440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457200"/>
            <a:ext cx="274320" cy="41148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8229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0"/>
            <a:ext cx="320040" cy="27432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274320"/>
            <a:ext cx="64008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274320"/>
            <a:ext cx="228600" cy="36576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5943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4739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38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CAPSTONE · CSA PLATFORM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4754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METODOLOGÍA Y PLANIFICACIÓN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30352" y="987552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Scrum permite validar incrementos del MVP y priorizar P0 antes de comprometer P1.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1344168"/>
            <a:ext cx="91440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1645920"/>
            <a:ext cx="2103120" cy="987552"/>
          </a:xfrm>
          <a:prstGeom prst="roundRect">
            <a:avLst>
              <a:gd name="adj" fmla="val 7407"/>
            </a:avLst>
          </a:prstGeom>
          <a:solidFill>
            <a:srgbClr val="0B121B"/>
          </a:solidFill>
          <a:ln w="15240">
            <a:solidFill>
              <a:srgbClr val="2F80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1883664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80E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SCRUM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9808" y="22677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Iterativo · ágil · priorizado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2834640" y="1645920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0B121B"/>
          </a:solidFill>
          <a:ln w="15240">
            <a:solidFill>
              <a:srgbClr val="EB5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63240" y="188366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B575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P0 PRIMERO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090672" y="22677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flujos críticos del MVP</a:t>
            </a:r>
            <a:endParaRPr lang="en-US" sz="1010" dirty="0"/>
          </a:p>
        </p:txBody>
      </p:sp>
      <p:sp>
        <p:nvSpPr>
          <p:cNvPr id="24" name="Shape 22"/>
          <p:cNvSpPr/>
          <p:nvPr/>
        </p:nvSpPr>
        <p:spPr>
          <a:xfrm>
            <a:off x="5440680" y="1645920"/>
            <a:ext cx="3063240" cy="987552"/>
          </a:xfrm>
          <a:prstGeom prst="roundRect">
            <a:avLst>
              <a:gd name="adj" fmla="val 7407"/>
            </a:avLst>
          </a:prstGeom>
          <a:solidFill>
            <a:srgbClr val="0B121B"/>
          </a:solidFill>
          <a:ln w="15240">
            <a:solidFill>
              <a:srgbClr val="7B61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50992" y="18836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B61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P1 SEGÚN CAPACIDAD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5650992" y="226771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CRM, dashboard, KPI e inventario básico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594360" y="3127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ROADMAP · 8 SPRINTS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51560" y="4590288"/>
            <a:ext cx="7086600" cy="0"/>
          </a:xfrm>
          <a:prstGeom prst="line">
            <a:avLst/>
          </a:prstGeom>
          <a:noFill/>
          <a:ln w="25400">
            <a:solidFill>
              <a:srgbClr val="58657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4389120"/>
            <a:ext cx="402336" cy="402336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367588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0E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1–2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" y="49194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Base del MVP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74904" y="5285232"/>
            <a:ext cx="160020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BAC5D1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Git CSA · UI · autenticación · roles · pacientes · Core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2807208" y="4389120"/>
            <a:ext cx="402336" cy="402336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97480" y="367588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B575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3–4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377440" y="49194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Clínica + Óptica P0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221992" y="5285232"/>
            <a:ext cx="160020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BAC5D1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Ficha · documentos · receta · integración · productos · cotización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4709160" y="4389120"/>
            <a:ext cx="402336" cy="40233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99432" y="367588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61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5–6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279392" y="49194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Cierre P0 + P1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123944" y="5285232"/>
            <a:ext cx="160020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BAC5D1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Venta · pagos · orden · inventario · auditoría · CRM/dashboard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6656832" y="4389120"/>
            <a:ext cx="402336" cy="40233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47104" y="367588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7–8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227064" y="49194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Validación y entrega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071616" y="5285232"/>
            <a:ext cx="160020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BAC5D1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Pruebas · seguridad · documentación · despliegue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A8A"/>
                </a:solidFill>
                <a:latin typeface="Roboto Condensed"/>
                <a:ea typeface="Roboto Condensed"/>
                <a:cs typeface="Roboto Condensed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0" y="0"/>
            <a:ext cx="274320" cy="32004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320040"/>
            <a:ext cx="82296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32004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73152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457200"/>
            <a:ext cx="91440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457200"/>
            <a:ext cx="274320" cy="41148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8229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0"/>
            <a:ext cx="320040" cy="27432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274320"/>
            <a:ext cx="64008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274320"/>
            <a:ext cx="228600" cy="36576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5943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4739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38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CAPSTONE · CSA PLATFORM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4754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CALIDAD, RIESGOS Y CRITERIOS DE ACEPTACIÓN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30352" y="987552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Las metas se medirán como evidencia, no como características garantizadas.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1344168"/>
            <a:ext cx="91440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1664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INDICADORES CLAVE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" y="2057400"/>
            <a:ext cx="3886200" cy="475488"/>
          </a:xfrm>
          <a:prstGeom prst="roundRect">
            <a:avLst>
              <a:gd name="adj" fmla="val 9615"/>
            </a:avLst>
          </a:prstGeom>
          <a:solidFill>
            <a:srgbClr val="0E141C"/>
          </a:solidFill>
          <a:ln w="10160">
            <a:solidFill>
              <a:srgbClr val="27AE60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21488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≥ 80%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82496" y="216712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Cobertura de código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21792" y="2679192"/>
            <a:ext cx="3886200" cy="475488"/>
          </a:xfrm>
          <a:prstGeom prst="roundRect">
            <a:avLst>
              <a:gd name="adj" fmla="val 9615"/>
            </a:avLst>
          </a:prstGeom>
          <a:solidFill>
            <a:srgbClr val="0E141C"/>
          </a:solidFill>
          <a:ln w="10160">
            <a:solidFill>
              <a:srgbClr val="2F80ED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27706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0E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100%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82496" y="278892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Casos críticos de API ejecutados y aprobados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21792" y="3300984"/>
            <a:ext cx="3886200" cy="475488"/>
          </a:xfrm>
          <a:prstGeom prst="roundRect">
            <a:avLst>
              <a:gd name="adj" fmla="val 9615"/>
            </a:avLst>
          </a:prstGeom>
          <a:solidFill>
            <a:srgbClr val="0E141C"/>
          </a:solidFill>
          <a:ln w="10160">
            <a:solidFill>
              <a:srgbClr val="7B61FF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33924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B61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≥ 90%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682496" y="341071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Historias P0 cerradas o replanificadas formalmente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621792" y="3922776"/>
            <a:ext cx="3886200" cy="475488"/>
          </a:xfrm>
          <a:prstGeom prst="roundRect">
            <a:avLst>
              <a:gd name="adj" fmla="val 9615"/>
            </a:avLst>
          </a:prstGeom>
          <a:solidFill>
            <a:srgbClr val="0E141C"/>
          </a:solidFill>
          <a:ln w="10160">
            <a:solidFill>
              <a:srgbClr val="F2994A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" y="40142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≥ 85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682496" y="4032504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Lighthouse en flujos representativos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621792" y="4544568"/>
            <a:ext cx="3886200" cy="475488"/>
          </a:xfrm>
          <a:prstGeom prst="roundRect">
            <a:avLst>
              <a:gd name="adj" fmla="val 9615"/>
            </a:avLst>
          </a:prstGeom>
          <a:solidFill>
            <a:srgbClr val="0E141C"/>
          </a:solidFill>
          <a:ln w="10160">
            <a:solidFill>
              <a:srgbClr val="2EC4B6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" y="46360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&lt; 1,8 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682496" y="465429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FCP bajo escenario documentado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4828032" y="16642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RIESGOS PRINCIPALES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4800600" y="1993392"/>
            <a:ext cx="3730752" cy="877824"/>
          </a:xfrm>
          <a:prstGeom prst="roundRect">
            <a:avLst>
              <a:gd name="adj" fmla="val 7292"/>
            </a:avLst>
          </a:prstGeom>
          <a:solidFill>
            <a:srgbClr val="111722"/>
          </a:solidFill>
          <a:ln w="13970">
            <a:solidFill>
              <a:srgbClr val="EB5757">
                <a:alpha val="7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46904" y="213969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0B1018"/>
          </a:solidFill>
          <a:ln w="12700">
            <a:solidFill>
              <a:srgbClr val="EB5757">
                <a:alpha val="85000"/>
              </a:srgbClr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5776" y="2258568"/>
            <a:ext cx="246888" cy="246888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5513832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Consolidación / migración de datos</a:t>
            </a:r>
            <a:endParaRPr lang="en-US" sz="1220" dirty="0"/>
          </a:p>
        </p:txBody>
      </p:sp>
      <p:sp>
        <p:nvSpPr>
          <p:cNvPr id="39" name="Text 36"/>
          <p:cNvSpPr/>
          <p:nvPr/>
        </p:nvSpPr>
        <p:spPr>
          <a:xfrm>
            <a:off x="5513832" y="2468880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Respaldos y ambientes de prueba antes de afectar datos operacionales.</a:t>
            </a:r>
            <a:endParaRPr lang="en-US" sz="890" dirty="0"/>
          </a:p>
        </p:txBody>
      </p:sp>
      <p:sp>
        <p:nvSpPr>
          <p:cNvPr id="40" name="Shape 37"/>
          <p:cNvSpPr/>
          <p:nvPr/>
        </p:nvSpPr>
        <p:spPr>
          <a:xfrm>
            <a:off x="4800600" y="2980944"/>
            <a:ext cx="3730752" cy="877824"/>
          </a:xfrm>
          <a:prstGeom prst="roundRect">
            <a:avLst>
              <a:gd name="adj" fmla="val 7292"/>
            </a:avLst>
          </a:prstGeom>
          <a:solidFill>
            <a:srgbClr val="111722"/>
          </a:solidFill>
          <a:ln w="13970">
            <a:solidFill>
              <a:srgbClr val="7B61FF">
                <a:alpha val="75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946904" y="3127248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0B1018"/>
          </a:solidFill>
          <a:ln w="12700">
            <a:solidFill>
              <a:srgbClr val="7B61FF">
                <a:alpha val="85000"/>
              </a:srgbClr>
            </a:solidFill>
            <a:prstDash val="solid"/>
          </a:ln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5776" y="3246120"/>
            <a:ext cx="246888" cy="246888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5513832" y="3108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Seguridad y privacidad</a:t>
            </a:r>
            <a:endParaRPr lang="en-US" sz="1220" dirty="0"/>
          </a:p>
        </p:txBody>
      </p:sp>
      <p:sp>
        <p:nvSpPr>
          <p:cNvPr id="44" name="Text 40"/>
          <p:cNvSpPr/>
          <p:nvPr/>
        </p:nvSpPr>
        <p:spPr>
          <a:xfrm>
            <a:off x="5513832" y="3456432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RBAC, mínimo privilegio, auditoría y protección de secretos.</a:t>
            </a:r>
            <a:endParaRPr lang="en-US" sz="890" dirty="0"/>
          </a:p>
        </p:txBody>
      </p:sp>
      <p:sp>
        <p:nvSpPr>
          <p:cNvPr id="45" name="Shape 41"/>
          <p:cNvSpPr/>
          <p:nvPr/>
        </p:nvSpPr>
        <p:spPr>
          <a:xfrm>
            <a:off x="4800600" y="3968496"/>
            <a:ext cx="3730752" cy="877824"/>
          </a:xfrm>
          <a:prstGeom prst="roundRect">
            <a:avLst>
              <a:gd name="adj" fmla="val 7292"/>
            </a:avLst>
          </a:prstGeom>
          <a:solidFill>
            <a:srgbClr val="111722"/>
          </a:solidFill>
          <a:ln w="13970">
            <a:solidFill>
              <a:srgbClr val="F2994A">
                <a:alpha val="7500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4946904" y="411480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0B1018"/>
          </a:solidFill>
          <a:ln w="12700">
            <a:solidFill>
              <a:srgbClr val="F2994A">
                <a:alpha val="85000"/>
              </a:srgbClr>
            </a:solidFill>
            <a:prstDash val="solid"/>
          </a:ln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65776" y="4233672"/>
            <a:ext cx="246888" cy="246888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5513832" y="4096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Disponibilidad e integración</a:t>
            </a:r>
            <a:endParaRPr lang="en-US" sz="1220" dirty="0"/>
          </a:p>
        </p:txBody>
      </p:sp>
      <p:sp>
        <p:nvSpPr>
          <p:cNvPr id="49" name="Text 44"/>
          <p:cNvSpPr/>
          <p:nvPr/>
        </p:nvSpPr>
        <p:spPr>
          <a:xfrm>
            <a:off x="5513832" y="4443984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Validar transacciones, errores y persistencia para evitar pérdida silenciosa.</a:t>
            </a:r>
            <a:endParaRPr lang="en-US" sz="890" dirty="0"/>
          </a:p>
        </p:txBody>
      </p:sp>
      <p:sp>
        <p:nvSpPr>
          <p:cNvPr id="50" name="Shape 45"/>
          <p:cNvSpPr/>
          <p:nvPr/>
        </p:nvSpPr>
        <p:spPr>
          <a:xfrm>
            <a:off x="4800600" y="4956048"/>
            <a:ext cx="3730752" cy="877824"/>
          </a:xfrm>
          <a:prstGeom prst="roundRect">
            <a:avLst>
              <a:gd name="adj" fmla="val 7292"/>
            </a:avLst>
          </a:prstGeom>
          <a:solidFill>
            <a:srgbClr val="111722"/>
          </a:solidFill>
          <a:ln w="13970">
            <a:solidFill>
              <a:srgbClr val="2F80ED">
                <a:alpha val="75000"/>
              </a:srgbClr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4946904" y="5102352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0B1018"/>
          </a:solidFill>
          <a:ln w="12700">
            <a:solidFill>
              <a:srgbClr val="2F80ED">
                <a:alpha val="85000"/>
              </a:srgbClr>
            </a:solidFill>
            <a:prstDash val="solid"/>
          </a:ln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65776" y="5221224"/>
            <a:ext cx="246888" cy="246888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5513832" y="50840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Adopción del usuario</a:t>
            </a:r>
            <a:endParaRPr lang="en-US" sz="1220" dirty="0"/>
          </a:p>
        </p:txBody>
      </p:sp>
      <p:sp>
        <p:nvSpPr>
          <p:cNvPr id="54" name="Text 48"/>
          <p:cNvSpPr/>
          <p:nvPr/>
        </p:nvSpPr>
        <p:spPr>
          <a:xfrm>
            <a:off x="5513832" y="5431536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Diseño simple, capacitación y retroalimentación temprana.</a:t>
            </a:r>
            <a:endParaRPr lang="en-US" sz="8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A8A"/>
                </a:solidFill>
                <a:latin typeface="Roboto Condensed"/>
                <a:ea typeface="Roboto Condensed"/>
                <a:cs typeface="Roboto Condensed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0" y="0"/>
            <a:ext cx="274320" cy="32004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320040"/>
            <a:ext cx="82296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32004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73152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457200"/>
            <a:ext cx="91440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457200"/>
            <a:ext cx="274320" cy="41148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8229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0"/>
            <a:ext cx="320040" cy="27432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274320"/>
            <a:ext cx="640080" cy="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274320"/>
            <a:ext cx="228600" cy="365760"/>
          </a:xfrm>
          <a:prstGeom prst="line">
            <a:avLst/>
          </a:prstGeom>
          <a:noFill/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5943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4739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38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CAPSTONE · CSA PLATFORM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4754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CONCLUSIONES Y PROYECCIÓN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30352" y="987552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El valor del Capstone está en entregar una base operativa, segura y evolutiva.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1344168"/>
            <a:ext cx="91440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1700784"/>
            <a:ext cx="2505456" cy="1572768"/>
          </a:xfrm>
          <a:prstGeom prst="roundRect">
            <a:avLst>
              <a:gd name="adj" fmla="val 4651"/>
            </a:avLst>
          </a:prstGeom>
          <a:solidFill>
            <a:srgbClr val="111722"/>
          </a:solidFill>
          <a:ln w="13970">
            <a:solidFill>
              <a:srgbClr val="27AE60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" y="184708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27AE60">
                <a:alpha val="85000"/>
              </a:srgbClr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956816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80160" y="18470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MVP factible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31520" y="2414016"/>
            <a:ext cx="21762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El alcance P0/P1 es abordable con el equipo, presupuesto y tiempo disponibles.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328416" y="1700784"/>
            <a:ext cx="2505456" cy="1572768"/>
          </a:xfrm>
          <a:prstGeom prst="roundRect">
            <a:avLst>
              <a:gd name="adj" fmla="val 4651"/>
            </a:avLst>
          </a:prstGeom>
          <a:solidFill>
            <a:srgbClr val="111722"/>
          </a:solidFill>
          <a:ln w="13970">
            <a:solidFill>
              <a:srgbClr val="7B61FF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474720" y="184708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7B61FF">
                <a:alpha val="85000"/>
              </a:srgbClr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4448" y="1956816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041648" y="18470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Arquitectura adecuada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3493008" y="2414016"/>
            <a:ext cx="21762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 Arquitectura Monolítica Modular equilibra orden, costo y mantenibilidad.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089904" y="1700784"/>
            <a:ext cx="2505456" cy="1572768"/>
          </a:xfrm>
          <a:prstGeom prst="roundRect">
            <a:avLst>
              <a:gd name="adj" fmla="val 4651"/>
            </a:avLst>
          </a:prstGeom>
          <a:solidFill>
            <a:srgbClr val="111722"/>
          </a:solidFill>
          <a:ln w="13970">
            <a:solidFill>
              <a:srgbClr val="2F80ED">
                <a:alpha val="65000"/>
              </a:srgbClr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236208" y="184708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B1018"/>
          </a:solidFill>
          <a:ln w="12700">
            <a:solidFill>
              <a:srgbClr val="2F80ED">
                <a:alpha val="85000"/>
              </a:srgbClr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5936" y="1956816"/>
            <a:ext cx="256032" cy="25603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803136" y="18470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Seguridad desde el diseño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6254496" y="2414016"/>
            <a:ext cx="21762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0D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Identidad única, RBAC, auditoría y trazabilidad son requisitos transversales.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621792" y="3703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EVOLUCIÓN PROPUESTA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685800" y="4133088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111722"/>
          </a:solidFill>
          <a:ln w="15240">
            <a:solidFill>
              <a:srgbClr val="2F80ED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0392" y="4352544"/>
            <a:ext cx="329184" cy="32918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280160" y="42702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0E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MVP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850392" y="4782312"/>
            <a:ext cx="19202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Hacer funcionar CSA digitalmente</a:t>
            </a:r>
            <a:endParaRPr lang="en-US" sz="1010" dirty="0"/>
          </a:p>
        </p:txBody>
      </p:sp>
      <p:sp>
        <p:nvSpPr>
          <p:cNvPr id="38" name="Shape 32"/>
          <p:cNvSpPr/>
          <p:nvPr/>
        </p:nvSpPr>
        <p:spPr>
          <a:xfrm>
            <a:off x="3127248" y="4590288"/>
            <a:ext cx="347472" cy="256032"/>
          </a:xfrm>
          <a:prstGeom prst="chevron">
            <a:avLst/>
          </a:prstGeom>
          <a:solidFill>
            <a:srgbClr val="6F7A8A">
              <a:alpha val="85000"/>
            </a:srgbClr>
          </a:solidFill>
          <a:ln w="12700">
            <a:solidFill>
              <a:srgbClr val="6F7A8A">
                <a:alpha val="0"/>
              </a:srgbClr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3429000" y="4133088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111722"/>
          </a:solidFill>
          <a:ln w="15240">
            <a:solidFill>
              <a:srgbClr val="F2994A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93592" y="4352544"/>
            <a:ext cx="329184" cy="32918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4023360" y="42702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FASE 2</a:t>
            </a:r>
            <a:endParaRPr lang="en-US" sz="1500" dirty="0"/>
          </a:p>
        </p:txBody>
      </p:sp>
      <p:sp>
        <p:nvSpPr>
          <p:cNvPr id="42" name="Text 35"/>
          <p:cNvSpPr/>
          <p:nvPr/>
        </p:nvSpPr>
        <p:spPr>
          <a:xfrm>
            <a:off x="3593592" y="4782312"/>
            <a:ext cx="19202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Automatizar e integrar servicios externos</a:t>
            </a:r>
            <a:endParaRPr lang="en-US" sz="1010" dirty="0"/>
          </a:p>
        </p:txBody>
      </p:sp>
      <p:sp>
        <p:nvSpPr>
          <p:cNvPr id="43" name="Shape 36"/>
          <p:cNvSpPr/>
          <p:nvPr/>
        </p:nvSpPr>
        <p:spPr>
          <a:xfrm>
            <a:off x="5870448" y="4590288"/>
            <a:ext cx="347472" cy="256032"/>
          </a:xfrm>
          <a:prstGeom prst="chevron">
            <a:avLst/>
          </a:prstGeom>
          <a:solidFill>
            <a:srgbClr val="6F7A8A">
              <a:alpha val="85000"/>
            </a:srgbClr>
          </a:solidFill>
          <a:ln w="12700">
            <a:solidFill>
              <a:srgbClr val="6F7A8A">
                <a:alpha val="0"/>
              </a:srgbClr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6172200" y="4133088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111722"/>
          </a:solidFill>
          <a:ln w="15240">
            <a:solidFill>
              <a:srgbClr val="7B61FF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36792" y="4352544"/>
            <a:ext cx="329184" cy="329184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766560" y="42702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61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FASE 3</a:t>
            </a:r>
            <a:endParaRPr lang="en-US" sz="1500" dirty="0"/>
          </a:p>
        </p:txBody>
      </p:sp>
      <p:sp>
        <p:nvSpPr>
          <p:cNvPr id="47" name="Text 39"/>
          <p:cNvSpPr/>
          <p:nvPr/>
        </p:nvSpPr>
        <p:spPr>
          <a:xfrm>
            <a:off x="6336792" y="4782312"/>
            <a:ext cx="19202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Incorporar inteligencia y escalabilidad</a:t>
            </a:r>
            <a:endParaRPr lang="en-US" sz="1010" dirty="0"/>
          </a:p>
        </p:txBody>
      </p:sp>
      <p:sp>
        <p:nvSpPr>
          <p:cNvPr id="48" name="Text 40"/>
          <p:cNvSpPr/>
          <p:nvPr/>
        </p:nvSpPr>
        <p:spPr>
          <a:xfrm>
            <a:off x="1005840" y="5742432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60" i="1" dirty="0">
                <a:solidFill>
                  <a:srgbClr val="D8DFE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Reflexión: el proyecto demuestra que una solución empresarial no depende solo de programar; exige comprender el problema, controlar el alcance y tomar decisiones técnicas justificadas.</a:t>
            </a:r>
            <a:endParaRPr lang="en-US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A8A"/>
                </a:solidFill>
                <a:latin typeface="Roboto Condensed"/>
                <a:ea typeface="Roboto Condensed"/>
                <a:cs typeface="Roboto Condensed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0" y="0"/>
            <a:ext cx="274320" cy="320040"/>
          </a:xfrm>
          <a:prstGeom prst="line">
            <a:avLst/>
          </a:prstGeom>
          <a:noFill/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320040"/>
            <a:ext cx="822960" cy="0"/>
          </a:xfrm>
          <a:prstGeom prst="line">
            <a:avLst/>
          </a:prstGeom>
          <a:noFill/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32004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73152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0"/>
            <a:ext cx="365760" cy="457200"/>
          </a:xfrm>
          <a:prstGeom prst="line">
            <a:avLst/>
          </a:prstGeom>
          <a:noFill/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457200"/>
            <a:ext cx="914400" cy="0"/>
          </a:xfrm>
          <a:prstGeom prst="line">
            <a:avLst/>
          </a:prstGeom>
          <a:noFill/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457200"/>
            <a:ext cx="274320" cy="411480"/>
          </a:xfrm>
          <a:prstGeom prst="line">
            <a:avLst/>
          </a:prstGeom>
          <a:noFill/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8229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0"/>
            <a:ext cx="320040" cy="274320"/>
          </a:xfrm>
          <a:prstGeom prst="line">
            <a:avLst/>
          </a:prstGeom>
          <a:noFill/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274320"/>
            <a:ext cx="640080" cy="0"/>
          </a:xfrm>
          <a:prstGeom prst="line">
            <a:avLst/>
          </a:prstGeom>
          <a:noFill/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274320"/>
            <a:ext cx="228600" cy="365760"/>
          </a:xfrm>
          <a:prstGeom prst="line">
            <a:avLst/>
          </a:prstGeom>
          <a:noFill/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5943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5120640"/>
            <a:ext cx="-365760" cy="365760"/>
          </a:xfrm>
          <a:prstGeom prst="line">
            <a:avLst/>
          </a:prstGeom>
          <a:noFill/>
          <a:ln w="1397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0" y="5486400"/>
            <a:ext cx="0" cy="685800"/>
          </a:xfrm>
          <a:prstGeom prst="line">
            <a:avLst/>
          </a:prstGeom>
          <a:noFill/>
          <a:ln w="1397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6172200"/>
            <a:ext cx="-457200" cy="411480"/>
          </a:xfrm>
          <a:prstGeom prst="line">
            <a:avLst/>
          </a:prstGeom>
          <a:noFill/>
          <a:ln w="1397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653796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5623560"/>
            <a:ext cx="-228600" cy="228600"/>
          </a:xfrm>
          <a:prstGeom prst="line">
            <a:avLst/>
          </a:prstGeom>
          <a:noFill/>
          <a:ln w="1397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15400" y="5852160"/>
            <a:ext cx="0" cy="685800"/>
          </a:xfrm>
          <a:prstGeom prst="line">
            <a:avLst/>
          </a:prstGeom>
          <a:noFill/>
          <a:ln w="1397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649224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0" y="4983480"/>
            <a:ext cx="-274320" cy="274320"/>
          </a:xfrm>
          <a:prstGeom prst="line">
            <a:avLst/>
          </a:prstGeom>
          <a:noFill/>
          <a:ln w="1397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5257800"/>
            <a:ext cx="0" cy="548640"/>
          </a:xfrm>
          <a:prstGeom prst="line">
            <a:avLst/>
          </a:prstGeom>
          <a:noFill/>
          <a:ln w="1397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75320" y="576072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257800"/>
            <a:ext cx="411480" cy="411480"/>
          </a:xfrm>
          <a:prstGeom prst="line">
            <a:avLst/>
          </a:prstGeom>
          <a:noFill/>
          <a:ln w="1397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5669280"/>
            <a:ext cx="0" cy="731520"/>
          </a:xfrm>
          <a:prstGeom prst="line">
            <a:avLst/>
          </a:prstGeom>
          <a:noFill/>
          <a:ln w="1397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6400800"/>
            <a:ext cx="594360" cy="0"/>
          </a:xfrm>
          <a:prstGeom prst="line">
            <a:avLst/>
          </a:prstGeom>
          <a:noFill/>
          <a:ln w="1397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" y="635508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715000"/>
            <a:ext cx="274320" cy="320040"/>
          </a:xfrm>
          <a:prstGeom prst="line">
            <a:avLst/>
          </a:prstGeom>
          <a:noFill/>
          <a:ln w="1397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6035040"/>
            <a:ext cx="0" cy="594360"/>
          </a:xfrm>
          <a:prstGeom prst="line">
            <a:avLst/>
          </a:prstGeom>
          <a:noFill/>
          <a:ln w="1397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6629400"/>
            <a:ext cx="1143000" cy="0"/>
          </a:xfrm>
          <a:prstGeom prst="line">
            <a:avLst/>
          </a:prstGeom>
          <a:noFill/>
          <a:ln w="1397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71600" y="658368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" y="4983480"/>
            <a:ext cx="457200" cy="457200"/>
          </a:xfrm>
          <a:prstGeom prst="line">
            <a:avLst/>
          </a:prstGeom>
          <a:noFill/>
          <a:ln w="1397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5440680"/>
            <a:ext cx="0" cy="640080"/>
          </a:xfrm>
          <a:prstGeom prst="line">
            <a:avLst/>
          </a:prstGeom>
          <a:noFill/>
          <a:ln w="1397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6080760"/>
            <a:ext cx="548640" cy="0"/>
          </a:xfrm>
          <a:prstGeom prst="line">
            <a:avLst/>
          </a:prstGeom>
          <a:noFill/>
          <a:ln w="1397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88720" y="6035040"/>
            <a:ext cx="91440" cy="91440"/>
          </a:xfrm>
          <a:prstGeom prst="ellipse">
            <a:avLst/>
          </a:prstGeom>
          <a:solidFill>
            <a:srgbClr val="050608">
              <a:alpha val="0"/>
            </a:srgbClr>
          </a:solidFill>
          <a:ln w="1397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36" name="Image 0" descr="/mnt/data/ppt_assets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057" y="411480"/>
            <a:ext cx="1596527" cy="71323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2057400" y="239572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7F9F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PREGUNTAS</a:t>
            </a:r>
            <a:endParaRPr lang="en-US" sz="4200" dirty="0"/>
          </a:p>
        </p:txBody>
      </p:sp>
      <p:sp>
        <p:nvSpPr>
          <p:cNvPr id="38" name="Text 35"/>
          <p:cNvSpPr/>
          <p:nvPr/>
        </p:nvSpPr>
        <p:spPr>
          <a:xfrm>
            <a:off x="2377440" y="33101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80E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Plataforma Integral CSA · Capstone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4114800" y="4041648"/>
            <a:ext cx="914400" cy="914400"/>
          </a:xfrm>
          <a:prstGeom prst="ellipse">
            <a:avLst/>
          </a:prstGeom>
          <a:solidFill>
            <a:srgbClr val="0E1722"/>
          </a:solidFill>
          <a:ln w="16510">
            <a:solidFill>
              <a:srgbClr val="2F80ED"/>
            </a:solidFill>
            <a:prstDash val="solid"/>
          </a:ln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0832" y="4288536"/>
            <a:ext cx="402336" cy="402336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2103120" y="6035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9AA7B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Leonel González · Esteban Toledo · Jeremy Navarro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A8A"/>
                </a:solidFill>
                <a:latin typeface="Roboto Condensed"/>
                <a:ea typeface="Roboto Condensed"/>
                <a:cs typeface="Roboto Condensed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 Condense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BEB0DD27CB84C41AE20492BE3F33210" ma:contentTypeVersion="3" ma:contentTypeDescription="Crear nuevo documento." ma:contentTypeScope="" ma:versionID="1cc0195bc166e7c511b9df86cd0b2578">
  <xsd:schema xmlns:xsd="http://www.w3.org/2001/XMLSchema" xmlns:xs="http://www.w3.org/2001/XMLSchema" xmlns:p="http://schemas.microsoft.com/office/2006/metadata/properties" xmlns:ns2="8cba8b7d-5ed4-477c-befc-6406f8b0ac73" targetNamespace="http://schemas.microsoft.com/office/2006/metadata/properties" ma:root="true" ma:fieldsID="81362c8712154623a0639f61d8c7cd11" ns2:_="">
    <xsd:import namespace="8cba8b7d-5ed4-477c-befc-6406f8b0ac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ba8b7d-5ed4-477c-befc-6406f8b0ac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BB7D690-D322-4B52-BF9E-321923095028}"/>
</file>

<file path=customXml/itemProps2.xml><?xml version="1.0" encoding="utf-8"?>
<ds:datastoreItem xmlns:ds="http://schemas.openxmlformats.org/officeDocument/2006/customXml" ds:itemID="{B91D63F8-83DA-4015-BB89-EF08B21BAE47}"/>
</file>

<file path=customXml/itemProps3.xml><?xml version="1.0" encoding="utf-8"?>
<ds:datastoreItem xmlns:ds="http://schemas.openxmlformats.org/officeDocument/2006/customXml" ds:itemID="{728DF182-D9AB-4729-B342-FE71BF3F948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CSA Salud Integral SpA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Plataforma Integral CSA - Definición de Proyecto APT</dc:title>
  <dc:subject>Presentación Capstone - CSA Platform</dc:subject>
  <dc:creator>Leonel González, Esteban Toledo, Jeremy Navarro</dc:creator>
  <cp:lastModifiedBy>Leonel González, Esteban Toledo, Jeremy Navarro</cp:lastModifiedBy>
  <cp:revision>1</cp:revision>
  <dcterms:created xsi:type="dcterms:W3CDTF">2026-09-10T05:41:55Z</dcterms:created>
  <dcterms:modified xsi:type="dcterms:W3CDTF">2026-09-10T05:41:55Z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0x0101003BEB0DD27CB84C41AE20492BE3F33210</vt:lpwstr>
  </property>
</Properties>
</file>